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EUR m</c:v>
                </c:pt>
              </c:strCache>
            </c:strRef>
          </c:tx>
          <c:spPr>
            <a:solidFill>
              <a:srgbClr val="1E2761"/>
            </a:solidFill>
          </c:spPr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dPt>
            <c:idx val="2"/>
            <c:spPr>
              <a:solidFill>
                <a:srgbClr val="4A5FA8"/>
              </a:solidFill>
            </c:spPr>
          </c:dPt>
          <c:cat>
            <c:strRef>
              <c:f>Sheet1!$A$2:$A$4</c:f>
              <c:strCache>
                <c:ptCount val="3"/>
                <c:pt idx="0">
                  <c:v>Enterprise value</c:v>
                </c:pt>
                <c:pt idx="1">
                  <c:v>Net proceeds</c:v>
                </c:pt>
                <c:pt idx="2">
                  <c:v>Leakage (EV less proceeds)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900</c:v>
                </c:pt>
                <c:pt idx="2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1B1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4D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A60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revenue, %</c:v>
                </c:pt>
              </c:strCache>
            </c:strRef>
          </c:tx>
          <c:spPr>
            <a:solidFill>
              <a:srgbClr val="1E2761"/>
            </a:solidFill>
          </c:spPr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1E2761"/>
              </a:solidFill>
            </c:spPr>
          </c:dPt>
          <c:dPt>
            <c:idx val="4"/>
            <c:spPr>
              <a:solidFill>
                <a:srgbClr val="C9A227"/>
              </a:solidFill>
            </c:spPr>
          </c:dPt>
          <c:dPt>
            <c:idx val="5"/>
            <c:spPr>
              <a:solidFill>
                <a:srgbClr val="C9A227"/>
              </a:solidFill>
            </c:spPr>
          </c:dPt>
          <c:dPt>
            <c:idx val="6"/>
            <c:spPr>
              <a:solidFill>
                <a:srgbClr val="C9A227"/>
              </a:solidFill>
            </c:spPr>
          </c:dPt>
          <c:cat>
            <c:strRef>
              <c:f>Sheet1!$A$2:$A$8</c:f>
              <c:strCache>
                <c:ptCount val="7"/>
                <c:pt idx="0">
                  <c:v>Indonesia</c:v>
                </c:pt>
                <c:pt idx="1">
                  <c:v>Thailand</c:v>
                </c:pt>
                <c:pt idx="2">
                  <c:v>Vietnam</c:v>
                </c:pt>
                <c:pt idx="3">
                  <c:v>Malaysia</c:v>
                </c:pt>
                <c:pt idx="4">
                  <c:v>Australia</c:v>
                </c:pt>
                <c:pt idx="5">
                  <c:v>Singapore</c:v>
                </c:pt>
                <c:pt idx="6">
                  <c:v>Papua New Guinea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34.0</c:v>
                </c:pt>
                <c:pt idx="1">
                  <c:v>21.25</c:v>
                </c:pt>
                <c:pt idx="2">
                  <c:v>17.0</c:v>
                </c:pt>
                <c:pt idx="3">
                  <c:v>12.75</c:v>
                </c:pt>
                <c:pt idx="4">
                  <c:v>8.0</c:v>
                </c:pt>
                <c:pt idx="5">
                  <c:v>5.0</c:v>
                </c:pt>
                <c:pt idx="6">
                  <c:v>2.0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B1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4D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F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A60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September model (FY2025, ILLUSTRATIVE)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Sheet1!$A$2:$A$3</c:f>
              <c:strCache>
                <c:ptCount val="2"/>
                <c:pt idx="0">
                  <c:v>Revenue</c:v>
                </c:pt>
                <c:pt idx="1">
                  <c:v>EBITDA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300.0</c:v>
                </c:pt>
                <c:pt idx="1">
                  <c:v>47.4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Reported FY2025 (REPORTED)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Sheet1!$A$2:$A$3</c:f>
              <c:strCache>
                <c:ptCount val="2"/>
                <c:pt idx="0">
                  <c:v>Revenue</c:v>
                </c:pt>
                <c:pt idx="1">
                  <c:v>EBITDA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258.7</c:v>
                </c:pt>
                <c:pt idx="1">
                  <c:v>57.8</c:v>
                </c:pt>
              </c:numCache>
            </c:numRef>
          </c:val>
        </c:ser>
        <c:dLbls>
          <c:numFmt formatCode="#,##0.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5A60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EBITDA margin %</c:v>
                </c:pt>
              </c:strCache>
            </c:strRef>
          </c:tx>
          <c:spPr>
            <a:solidFill>
              <a:srgbClr val="1E2761"/>
            </a:solidFill>
          </c:spPr>
          <c:dPt>
            <c:idx val="0"/>
            <c:spPr>
              <a:solidFill>
                <a:srgbClr val="C9A227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cat>
            <c:strRef>
              <c:f>Sheet1!$A$2:$A$4</c:f>
              <c:strCache>
                <c:ptCount val="3"/>
                <c:pt idx="0">
                  <c:v>Sept proxy</c:v>
                </c:pt>
                <c:pt idx="1">
                  <c:v>FY2024 reported</c:v>
                </c:pt>
                <c:pt idx="2">
                  <c:v>FY2025 reported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15.8</c:v>
                </c:pt>
                <c:pt idx="1">
                  <c:v>23.1</c:v>
                </c:pt>
                <c:pt idx="2">
                  <c:v>22.3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B1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4D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F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A60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 bn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Sheet1!$A$2:$A$7</c:f>
              <c:strCache>
                <c:ptCount val="6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7.78</c:v>
                </c:pt>
                <c:pt idx="1">
                  <c:v>8.17</c:v>
                </c:pt>
                <c:pt idx="2">
                  <c:v>8.58</c:v>
                </c:pt>
                <c:pt idx="3">
                  <c:v>9.01</c:v>
                </c:pt>
                <c:pt idx="4">
                  <c:v>9.46</c:v>
                </c:pt>
                <c:pt idx="5">
                  <c:v>9.92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>
                  <a:solidFill>
                    <a:srgbClr val="1B1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C4D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6EF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A60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Mid-point EV, EUR m</c:v>
                </c:pt>
              </c:strCache>
            </c:strRef>
          </c:tx>
          <c:spPr>
            <a:solidFill>
              <a:srgbClr val="1E2761"/>
            </a:solidFill>
          </c:spPr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4A5FA8"/>
              </a:solidFill>
            </c:spPr>
          </c:dPt>
          <c:dPt>
            <c:idx val="4"/>
            <c:spPr>
              <a:solidFill>
                <a:srgbClr val="4A5FA8"/>
              </a:solidFill>
            </c:spPr>
          </c:dPt>
          <c:dPt>
            <c:idx val="5"/>
            <c:spPr>
              <a:solidFill>
                <a:srgbClr val="4A5FA8"/>
              </a:solidFill>
            </c:spPr>
          </c:dPt>
          <c:dPt>
            <c:idx val="6"/>
            <c:spPr>
              <a:solidFill>
                <a:srgbClr val="4A5FA8"/>
              </a:solidFill>
            </c:spPr>
          </c:dPt>
          <c:dPt>
            <c:idx val="7"/>
            <c:spPr>
              <a:solidFill>
                <a:srgbClr val="C9A227"/>
              </a:solidFill>
            </c:spPr>
          </c:dPt>
          <c:cat>
            <c:strRef>
              <c:f>Sheet1!$A$2:$A$9</c:f>
              <c:strCache>
                <c:ptCount val="8"/>
                <c:pt idx="0">
                  <c:v>DCF Base</c:v>
                </c:pt>
                <c:pt idx="1">
                  <c:v>DCF Buyer</c:v>
                </c:pt>
                <c:pt idx="2">
                  <c:v>DCF Downside</c:v>
                </c:pt>
                <c:pt idx="3">
                  <c:v>Comps EV/EBITDA</c:v>
                </c:pt>
                <c:pt idx="4">
                  <c:v>Comps EV/Revenue</c:v>
                </c:pt>
                <c:pt idx="5">
                  <c:v>Precedents EV/EBITDA</c:v>
                </c:pt>
                <c:pt idx="6">
                  <c:v>Precedents EV/Revenue</c:v>
                </c:pt>
                <c:pt idx="7">
                  <c:v>Weighted blend (unrounded)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712.7</c:v>
                </c:pt>
                <c:pt idx="1">
                  <c:v>853.7</c:v>
                </c:pt>
                <c:pt idx="2">
                  <c:v>586.2</c:v>
                </c:pt>
                <c:pt idx="3">
                  <c:v>880.5</c:v>
                </c:pt>
                <c:pt idx="4">
                  <c:v>731.2</c:v>
                </c:pt>
                <c:pt idx="5">
                  <c:v>1057.5</c:v>
                </c:pt>
                <c:pt idx="6">
                  <c:v>474.3</c:v>
                </c:pt>
                <c:pt idx="7">
                  <c:v>785.5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1B1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4D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6EF"/>
              </a:solidFill>
            </a:ln>
          </c:spPr>
        </c:majorGridlines>
        <c:numFmt formatCode="#,##0" sourceLinked="0"/>
        <c:majorTickMark val="out"/>
        <c:minorTickMark val="none"/>
        <c:tickLblPos val="high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A60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DCF Base</c:v>
                </c:pt>
                <c:pt idx="1">
                  <c:v>DCF Buyer</c:v>
                </c:pt>
                <c:pt idx="2">
                  <c:v>DCF Downside</c:v>
                </c:pt>
                <c:pt idx="3">
                  <c:v>Comps EV/EBITDA</c:v>
                </c:pt>
                <c:pt idx="4">
                  <c:v>Comps EV/Revenue</c:v>
                </c:pt>
                <c:pt idx="5">
                  <c:v>Precedents EV/EBITDA</c:v>
                </c:pt>
                <c:pt idx="6">
                  <c:v>Precedents EV/Revenue</c:v>
                </c:pt>
                <c:pt idx="7">
                  <c:v>Weighted range</c:v>
                </c:pt>
                <c:pt idx="8">
                  <c:v>Announced EV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618.1</c:v>
                </c:pt>
                <c:pt idx="1">
                  <c:v>741.3</c:v>
                </c:pt>
                <c:pt idx="2">
                  <c:v>509.7</c:v>
                </c:pt>
                <c:pt idx="3">
                  <c:v>594.1</c:v>
                </c:pt>
                <c:pt idx="4">
                  <c:v>467.7</c:v>
                </c:pt>
                <c:pt idx="5">
                  <c:v>670.6</c:v>
                </c:pt>
                <c:pt idx="6">
                  <c:v>71.1</c:v>
                </c:pt>
                <c:pt idx="7">
                  <c:v>551.3</c:v>
                </c:pt>
                <c:pt idx="8">
                  <c:v>1188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1E2761"/>
            </a:solidFill>
          </c:spPr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4A5FA8"/>
              </a:solidFill>
            </c:spPr>
          </c:dPt>
          <c:dPt>
            <c:idx val="4"/>
            <c:spPr>
              <a:solidFill>
                <a:srgbClr val="4A5FA8"/>
              </a:solidFill>
            </c:spPr>
          </c:dPt>
          <c:dPt>
            <c:idx val="5"/>
            <c:spPr>
              <a:solidFill>
                <a:srgbClr val="4A5FA8"/>
              </a:solidFill>
            </c:spPr>
          </c:dPt>
          <c:dPt>
            <c:idx val="6"/>
            <c:spPr>
              <a:solidFill>
                <a:srgbClr val="4A5FA8"/>
              </a:solidFill>
            </c:spPr>
          </c:dPt>
          <c:dPt>
            <c:idx val="7"/>
            <c:spPr>
              <a:solidFill>
                <a:srgbClr val="5A6072"/>
              </a:solidFill>
            </c:spPr>
          </c:dPt>
          <c:dPt>
            <c:idx val="8"/>
            <c:spPr>
              <a:solidFill>
                <a:srgbClr val="C9A227"/>
              </a:solidFill>
            </c:spPr>
          </c:dPt>
          <c:cat>
            <c:strRef>
              <c:f>Sheet1!$A$2:$A$10</c:f>
              <c:strCache>
                <c:ptCount val="9"/>
                <c:pt idx="0">
                  <c:v>DCF Base</c:v>
                </c:pt>
                <c:pt idx="1">
                  <c:v>DCF Buyer</c:v>
                </c:pt>
                <c:pt idx="2">
                  <c:v>DCF Downside</c:v>
                </c:pt>
                <c:pt idx="3">
                  <c:v>Comps EV/EBITDA</c:v>
                </c:pt>
                <c:pt idx="4">
                  <c:v>Comps EV/Revenue</c:v>
                </c:pt>
                <c:pt idx="5">
                  <c:v>Precedents EV/EBITDA</c:v>
                </c:pt>
                <c:pt idx="6">
                  <c:v>Precedents EV/Revenue</c:v>
                </c:pt>
                <c:pt idx="7">
                  <c:v>Weighted range</c:v>
                </c:pt>
                <c:pt idx="8">
                  <c:v>Announced EV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227.9</c:v>
                </c:pt>
                <c:pt idx="1">
                  <c:v>271.0</c:v>
                </c:pt>
                <c:pt idx="2">
                  <c:v>184.4</c:v>
                </c:pt>
                <c:pt idx="3">
                  <c:v>917.5</c:v>
                </c:pt>
                <c:pt idx="4">
                  <c:v>594.3</c:v>
                </c:pt>
                <c:pt idx="5">
                  <c:v>773.9</c:v>
                </c:pt>
                <c:pt idx="6">
                  <c:v>495.5</c:v>
                </c:pt>
                <c:pt idx="7">
                  <c:v>545.6</c:v>
                </c:pt>
                <c:pt idx="8">
                  <c:v>24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0.0"/>
          <c:min val="0.0"/>
        </c:scaling>
        <c:delete val="0"/>
        <c:axPos val="b"/>
        <c:majorGridlines>
          <c:spPr>
            <a:ln>
              <a:solidFill>
                <a:srgbClr val="E3E6EF"/>
              </a:solidFill>
            </a:ln>
          </c:spPr>
        </c:majorGridlines>
        <c:numFmt formatCode="#,##0" sourceLinked="0"/>
        <c:majorTickMark val="out"/>
        <c:minorTickMark val="none"/>
        <c:tickLblPos val="high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A60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 terminal margin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Sheet1!$A$2:$A$4</c:f>
              <c:strCache>
                <c:ptCount val="3"/>
                <c:pt idx="0">
                  <c:v>Base</c:v>
                </c:pt>
                <c:pt idx="1">
                  <c:v>Buyer</c:v>
                </c:pt>
                <c:pt idx="2">
                  <c:v>Downside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22.3</c:v>
                </c:pt>
                <c:pt idx="1">
                  <c:v>24.2</c:v>
                </c:pt>
                <c:pt idx="2">
                  <c:v>20.3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Margin needed for EUR 1.2bn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Base</c:v>
                </c:pt>
                <c:pt idx="1">
                  <c:v>Buyer</c:v>
                </c:pt>
                <c:pt idx="2">
                  <c:v>Downside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38.7</c:v>
                </c:pt>
                <c:pt idx="1">
                  <c:v>34.9</c:v>
                </c:pt>
                <c:pt idx="2">
                  <c:v>43.0</c:v>
                </c:pt>
              </c:numCache>
            </c:numRef>
          </c:val>
        </c:ser>
        <c:dLbls>
          <c:numFmt formatCode="0.0&quot;%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>
          <c:spPr>
            <a:ln>
              <a:solidFill>
                <a:srgbClr val="E3E6EF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5A60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Model terminal growth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Sheet1!$A$2:$A$4</c:f>
              <c:strCache>
                <c:ptCount val="3"/>
                <c:pt idx="0">
                  <c:v>Base</c:v>
                </c:pt>
                <c:pt idx="1">
                  <c:v>Buyer</c:v>
                </c:pt>
                <c:pt idx="2">
                  <c:v>Downside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</c:v>
                </c:pt>
                <c:pt idx="1">
                  <c:v>3.0</c:v>
                </c:pt>
                <c:pt idx="2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Growth needed for EUR 1.2bn</c:v>
                </c:pt>
              </c:strCache>
            </c:strRef>
          </c:tx>
          <c:spPr>
            <a:solidFill>
              <a:srgbClr val="1E2761"/>
            </a:solidFill>
          </c:spPr>
          <c:cat>
            <c:strRef>
              <c:f>Sheet1!$A$2:$A$4</c:f>
              <c:strCache>
                <c:ptCount val="3"/>
                <c:pt idx="0">
                  <c:v>Base</c:v>
                </c:pt>
                <c:pt idx="1">
                  <c:v>Buyer</c:v>
                </c:pt>
                <c:pt idx="2">
                  <c:v>Downside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5.7</c:v>
                </c:pt>
                <c:pt idx="1">
                  <c:v>5.0</c:v>
                </c:pt>
                <c:pt idx="2">
                  <c:v>6.4</c:v>
                </c:pt>
              </c:numCache>
            </c:numRef>
          </c:val>
        </c:ser>
        <c:dLbls>
          <c:numFmt formatCode="0.0&quot;%&quot;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>
          <c:spPr>
            <a:ln>
              <a:solidFill>
                <a:srgbClr val="E3E6EF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5A60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EUR m a year</c:v>
                </c:pt>
              </c:strCache>
            </c:strRef>
          </c:tx>
          <c:spPr>
            <a:solidFill>
              <a:srgbClr val="1E2761"/>
            </a:solidFill>
          </c:spPr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4A5FA8"/>
              </a:solidFill>
            </c:spPr>
          </c:dPt>
          <c:dPt>
            <c:idx val="3"/>
            <c:spPr>
              <a:solidFill>
                <a:srgbClr val="4A5FA8"/>
              </a:solidFill>
            </c:spPr>
          </c:dPt>
          <c:dPt>
            <c:idx val="4"/>
            <c:spPr>
              <a:solidFill>
                <a:srgbClr val="C9A227"/>
              </a:solidFill>
            </c:spPr>
          </c:dPt>
          <c:dPt>
            <c:idx val="5"/>
            <c:spPr>
              <a:solidFill>
                <a:srgbClr val="C9A227"/>
              </a:solidFill>
            </c:spPr>
          </c:dPt>
          <c:cat>
            <c:strRef>
              <c:f>Sheet1!$A$2:$A$7</c:f>
              <c:strCache>
                <c:ptCount val="6"/>
                <c:pt idx="0">
                  <c:v>Needed: Base gap</c:v>
                </c:pt>
                <c:pt idx="1">
                  <c:v>Needed: Buyer-case gap</c:v>
                </c:pt>
                <c:pt idx="2">
                  <c:v>Reported press range: 7-9% of sales (high)</c:v>
                </c:pt>
                <c:pt idx="3">
                  <c:v>Reported press range (low)</c:v>
                </c:pt>
                <c:pt idx="4">
                  <c:v>Sept heuristic, cost savings (high)</c:v>
                </c:pt>
                <c:pt idx="5">
                  <c:v>Sept heuristic, profit-equivalent (high)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38.6</c:v>
                </c:pt>
                <c:pt idx="1">
                  <c:v>27.5</c:v>
                </c:pt>
                <c:pt idx="2">
                  <c:v>23.3</c:v>
                </c:pt>
                <c:pt idx="3">
                  <c:v>18.1</c:v>
                </c:pt>
                <c:pt idx="4">
                  <c:v>10.3</c:v>
                </c:pt>
                <c:pt idx="5">
                  <c:v>11.8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000">
                  <a:solidFill>
                    <a:srgbClr val="1B1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4D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6EF"/>
              </a:solidFill>
            </a:ln>
          </c:spPr>
        </c:majorGridlines>
        <c:numFmt formatCode="#,##0.0" sourceLinked="0"/>
        <c:majorTickMark val="out"/>
        <c:minorTickMark val="none"/>
        <c:tickLblPos val="high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A60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EUR m</c:v>
                </c:pt>
              </c:strCache>
            </c:strRef>
          </c:tx>
          <c:spPr>
            <a:solidFill>
              <a:srgbClr val="1E2761"/>
            </a:solidFill>
          </c:spPr>
          <c:dPt>
            <c:idx val="0"/>
            <c:spPr>
              <a:solidFill>
                <a:srgbClr val="C9A227"/>
              </a:solidFill>
            </c:spPr>
          </c:dPt>
          <c:dPt>
            <c:idx val="1"/>
            <c:spPr>
              <a:solidFill>
                <a:srgbClr val="4A5FA8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cat>
            <c:strRef>
              <c:f>Sheet1!$A$2:$A$4</c:f>
              <c:strCache>
                <c:ptCount val="3"/>
                <c:pt idx="0">
                  <c:v>September recommended mid-point</c:v>
                </c:pt>
                <c:pt idx="1">
                  <c:v>v2 weighted mid-point (rounded to 25)</c:v>
                </c:pt>
                <c:pt idx="2">
                  <c:v>Announced EV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625</c:v>
                </c:pt>
                <c:pt idx="1">
                  <c:v>775</c:v>
                </c:pt>
                <c:pt idx="2">
                  <c:v>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1B1B1B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4D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0.0"/>
          <c:min val="0.0"/>
        </c:scaling>
        <c:delete val="0"/>
        <c:axPos val="b"/>
        <c:majorGridlines>
          <c:spPr>
            <a:ln>
              <a:solidFill>
                <a:srgbClr val="E3E6EF"/>
              </a:solidFill>
            </a:ln>
          </c:spPr>
        </c:majorGridlines>
        <c:numFmt formatCode="#,##0" sourceLinked="0"/>
        <c:majorTickMark val="out"/>
        <c:minorTickMark val="none"/>
        <c:tickLblPos val="high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A60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PROJECT SOUTHEAST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000" b="0" i="0">
                <a:solidFill>
                  <a:srgbClr val="CADCFC"/>
                </a:solidFill>
                <a:latin typeface="Calibri"/>
              </a:rPr>
              <a:t>Transaction Review: the announced sale to Nippon Paint against our September case study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3611880"/>
            <a:ext cx="2926079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0" i="0">
                <a:solidFill>
                  <a:srgbClr val="CADCFC"/>
                </a:solidFill>
                <a:latin typeface="Calibri"/>
              </a:rPr>
              <a:t>Independent Student M&amp;A Case Study  |  9 October 2026  |  Post-announcement v2 refresh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0" i="0">
                <a:solidFill>
                  <a:srgbClr val="8E9AC7"/>
                </a:solidFill>
                <a:latin typeface="Calibri"/>
              </a:rPr>
              <a:t>Independent student analysis/reconstruction based on publicly available information. Not affiliated with, commissioned by, or representative of Goldman Sachs, AkzoNobel or Nippon Paint.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ANNOUNCED TRANSACTION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AkzoNobel agreed to sell its seven-country Decorative Paints business to Nippon Paint at EUR 1.2bn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AkzoNobel media release, 5 Oct 2026 (SRC-037); Form 6-K (SRC-038); Nippon Paint's ~16x per Investing.com / Yahoo Finance UK / Briefs Finance (SRC-041, SRC-043, SRC-048). EUR/USD 1.125 (release-implied).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743200" cy="1600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5603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1" i="0" spc="100">
                <a:solidFill>
                  <a:srgbClr val="2E7D4F"/>
                </a:solidFill>
                <a:latin typeface="Calibri"/>
              </a:rPr>
              <a:t>PUBLIC 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7510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EUR 1.20bn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25603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 i="0">
                <a:solidFill>
                  <a:srgbClr val="5A6072"/>
                </a:solidFill>
                <a:latin typeface="Calibri"/>
              </a:rPr>
              <a:t>Enterprise value (USD 1.35bn)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645920"/>
            <a:ext cx="2743200" cy="1600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719072"/>
            <a:ext cx="25603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1" i="0" spc="100">
                <a:solidFill>
                  <a:srgbClr val="2E7D4F"/>
                </a:solidFill>
                <a:latin typeface="Calibri"/>
              </a:rPr>
              <a:t>PUBLIC 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7510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21x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42032"/>
            <a:ext cx="25603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 i="0">
                <a:solidFill>
                  <a:srgbClr val="5A6072"/>
                </a:solidFill>
                <a:latin typeface="Calibri"/>
              </a:rPr>
              <a:t>FY2025 EBITDA, as stated by AkzoNobel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83280"/>
            <a:ext cx="2743200" cy="1600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56432"/>
            <a:ext cx="25603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1" i="0" spc="100">
                <a:solidFill>
                  <a:srgbClr val="2E7D4F"/>
                </a:solidFill>
                <a:latin typeface="Calibri"/>
              </a:rPr>
              <a:t>PUBLIC 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1246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EUR 0.9bn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79392"/>
            <a:ext cx="25603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 i="0">
                <a:solidFill>
                  <a:srgbClr val="5A6072"/>
                </a:solidFill>
                <a:latin typeface="Calibri"/>
              </a:rPr>
              <a:t>Net cash proceeds after taxes and minority partners (USD 1.0bn)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3383280"/>
            <a:ext cx="2743200" cy="1600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456432"/>
            <a:ext cx="25603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1" i="0" spc="100">
                <a:solidFill>
                  <a:srgbClr val="C98A1A"/>
                </a:solidFill>
                <a:latin typeface="Calibri"/>
              </a:rPr>
              <a:t>REPORTED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71246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~16x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279392"/>
            <a:ext cx="25603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 i="0">
                <a:solidFill>
                  <a:srgbClr val="5A6072"/>
                </a:solidFill>
                <a:latin typeface="Calibri"/>
              </a:rPr>
              <a:t>2026E EBITDA, per Nippon Paint; outlets attribute it to Nippon Paint, primary release not read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92240" y="1645920"/>
          <a:ext cx="52120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92240" y="1536192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 i="0">
                <a:solidFill>
                  <a:srgbClr val="1E2761"/>
                </a:solidFill>
                <a:latin typeface="Calibri"/>
              </a:rPr>
              <a:t>EUR m: leakage is tax and minority share, not equity value (ANALYST CALCULATION)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166360"/>
            <a:ext cx="11155680" cy="1143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1208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B1B1B"/>
                </a:solidFill>
                <a:latin typeface="Calibri"/>
              </a:rPr>
              <a:t>Perimeter: Decorative Paints in Vietnam, Indonesia, Malaysia, Thailand, Singapore, Papua New Guinea and Australia. AkzoNobel keeps Coatings and Global Business Services. Agreements signed 3 Oct 2026 (REPORTED, two outlets); Indonesia closes late 2026, the other transactions mid-2027, subject to regulatory approvals (PUBLIC FACT).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PERIMETER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The announced perimeter has seven countries; the September case study modelled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AkzoNobel release (SRC-037) for the seven countries. Country split is an ILLUSTRATIVE ASSUMPTION (v2 model, Assumptions section 4): no country revenue is disclosed.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74519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536192"/>
            <a:ext cx="69494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 i="0">
                <a:solidFill>
                  <a:srgbClr val="1E2761"/>
                </a:solidFill>
                <a:latin typeface="Calibri"/>
              </a:rPr>
              <a:t>Illustrative revenue split, % (ILLUSTRATIVE ASSUMPTION; navy = modelled in September, gold = added)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737360"/>
            <a:ext cx="3931920" cy="41605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8288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mbria"/>
              </a:rPr>
              <a:t>What this changes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194560"/>
            <a:ext cx="3657600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 i="0">
                <a:solidFill>
                  <a:srgbClr val="1B1B1B"/>
                </a:solidFill>
                <a:latin typeface="Calibri"/>
              </a:rPr>
              <a:t/>
            </a:r>
            <a:r>
              <a:rPr sz="1100">
                <a:solidFill>
                  <a:srgbClr val="1B1B1B"/>
                </a:solidFill>
                <a:latin typeface="Calibri"/>
              </a:rPr>
              <a:t>Added markets: Singapore, Papua New Guinea, Australia. Together an assumed 15% of revenue.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B1B1B"/>
                </a:solidFill>
                <a:latin typeface="Calibri"/>
              </a:rPr>
              <a:t>Blended statutory tax rises to 22.04% and the revenue-weighted country risk premium falls to 1.44% (ANALYST CALCULATION on illustrative weights).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B1B1B"/>
                </a:solidFill>
                <a:latin typeface="Calibri"/>
              </a:rPr>
              <a:t>Equal-weighting the seven countries would move WACC by only -0.02 percentage points, so the undisclosed split is not what drives value.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B1B1B"/>
                </a:solidFill>
                <a:latin typeface="Calibri"/>
              </a:rPr>
              <a:t>The reported totals (USD 291m revenue) cover all seven; our EUR 300m anchor covered four.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REPORTED 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The reported margin of 22% was well above our 15.8% September proxy, and revenue was lower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REPORTED, by several outlets and attributed to Nippon Paint; primary release not read; not in AkzoNobel's release (SRC-039, SRC-041 to SRC-043, SRC-047, SRC-048). September: 02_Financial_Model (EUR 300m anchor, 15.8% proxy). USD to EUR at 1.125.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74519"/>
          <a:ext cx="60350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536192"/>
            <a:ext cx="60350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 i="0">
                <a:solidFill>
                  <a:srgbClr val="1E2761"/>
                </a:solidFill>
                <a:latin typeface="Calibri"/>
              </a:rPr>
              <a:t>FY2025 revenue and EBITDA, EUR m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0" y="1874519"/>
          <a:ext cx="484632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1536192"/>
            <a:ext cx="48463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 i="0">
                <a:solidFill>
                  <a:srgbClr val="1E2761"/>
                </a:solidFill>
                <a:latin typeface="Calibri"/>
              </a:rPr>
              <a:t>EBITDA margin,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4297680"/>
            <a:ext cx="4846320" cy="16916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4343400"/>
            <a:ext cx="466344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 i="0">
                <a:solidFill>
                  <a:srgbClr val="1B1B1B"/>
                </a:solidFill>
                <a:latin typeface="Calibri"/>
              </a:rPr>
              <a:t/>
            </a:r>
            <a:r>
              <a:rPr sz="1050">
                <a:solidFill>
                  <a:srgbClr val="1B1B1B"/>
                </a:solidFill>
                <a:latin typeface="Calibri"/>
              </a:rPr>
              <a:t>USD 291m / USD 65m (FY2025) and USD 299m / USD 69m (FY2024): REPORTED, not PUBLIC FACT.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65 / 291 = 22.3%. At the announced USD 1.35bn, 21x on USD 65m reconciles to AkzoNobel's own multiple.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Not known: whether the reported margin is on a standalone basis.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The ASEAN paints and coatings market was projected to grow at about 5% a year through 2031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ION Analytics article citing ASEAN paints &amp; coatings market sizing, 2026-2031 (SRC-001); September deck slide 5. Market size is the source's figure; applying ~5% to this business is our ILLUSTRATIVE ASSUMPTION.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74519"/>
          <a:ext cx="71323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536192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 i="0">
                <a:solidFill>
                  <a:srgbClr val="1E2761"/>
                </a:solidFill>
                <a:latin typeface="Calibri"/>
              </a:rPr>
              <a:t>ASEAN paints and coatings market, USD bn (REPORTED by ION Analytics)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737360"/>
            <a:ext cx="3749039" cy="4251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828800"/>
            <a:ext cx="34747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mbria"/>
              </a:rPr>
              <a:t>How v2 uses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194560"/>
            <a:ext cx="3474720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 i="0">
                <a:solidFill>
                  <a:srgbClr val="1B1B1B"/>
                </a:solidFill>
                <a:latin typeface="Calibri"/>
              </a:rPr>
              <a:t/>
            </a:r>
            <a:r>
              <a:rPr sz="1100">
                <a:solidFill>
                  <a:srgbClr val="1B1B1B"/>
                </a:solidFill>
                <a:latin typeface="Calibri"/>
              </a:rPr>
              <a:t>Base case grows 5% a year: the only cited growth anchor. It is the market rate applied to the business, not a business forecast.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B1B1B"/>
                </a:solidFill>
                <a:latin typeface="Calibri"/>
              </a:rPr>
              <a:t>Downside uses 3%. Buyer case uses Nippon Paint's reported 2026 projection (single-source, PCI Magazine) and then 5%.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B1B1B"/>
                </a:solidFill>
                <a:latin typeface="Calibri"/>
              </a:rPr>
              <a:t>Nothing here was changed by the announcement: the market data predate it and were not refreshed.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VALUATION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Three DCF cases and the market methods put value between EUR 470m and EUR 1,060m, before the price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11_Post_Announcement_v2 (financial model: Cases; valuation: Triangulation). DCF = ANALYST CALCULATION on ILLUSTRATIVE drivers; comps dated 2026-09-18 (SRC-034), not refreshed; precedents per 04_Precedent_Transactions.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74519"/>
          <a:ext cx="75895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536192"/>
            <a:ext cx="75895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 i="0">
                <a:solidFill>
                  <a:srgbClr val="1E2761"/>
                </a:solidFill>
                <a:latin typeface="Calibri"/>
              </a:rPr>
              <a:t>Mid-point enterprise value, EUR m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737360"/>
            <a:ext cx="3291840" cy="4251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82880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mbria"/>
              </a:rPr>
              <a:t>Weights fixed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94560"/>
            <a:ext cx="3108960" cy="37490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 i="0">
                <a:solidFill>
                  <a:srgbClr val="1B1B1B"/>
                </a:solidFill>
                <a:latin typeface="Calibri"/>
              </a:rPr>
              <a:t/>
            </a:r>
            <a:r>
              <a:rPr sz="1050">
                <a:solidFill>
                  <a:srgbClr val="1B1B1B"/>
                </a:solidFill>
                <a:latin typeface="Calibri"/>
              </a:rPr>
              <a:t>DCF 40% (Base 25, Buyer 7.5, Downside 7.5); comps EV/EBITDA 25%; precedents EV/EBITDA 15%; each EV/Revenue method 10%.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Weighted range, rounded to 25: EUR 550 / 775 / 1,100m (low / mid / high), set before the comparison with the price. The bar shows the unrounded blend.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WACC 8.82%; terminal growth 3.0%.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VALUATION VERSUS PRICE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The announced EUR 1.2bn sits above the top of our weighted range and above every DCF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11_Post_Announcement_v2 (Triangulation, Deal_Check). Bars: DCF low/high = WACC +/-0.5pp with growth -/+0.5pp; comps P25-P75; precedents min-max. Announced EV = PUBLIC FACT (SRC-037).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737360"/>
          <a:ext cx="78638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536192"/>
            <a:ext cx="78638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 i="0">
                <a:solidFill>
                  <a:srgbClr val="1E2761"/>
                </a:solidFill>
                <a:latin typeface="Calibri"/>
              </a:rPr>
              <a:t>Enterprise value range by method, EUR m (gold = announced price)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737360"/>
            <a:ext cx="3017520" cy="42976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828800"/>
            <a:ext cx="28346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mbria"/>
              </a:rPr>
              <a:t>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194560"/>
            <a:ext cx="2834640" cy="3840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 i="0">
                <a:solidFill>
                  <a:srgbClr val="1B1B1B"/>
                </a:solidFill>
                <a:latin typeface="Calibri"/>
              </a:rPr>
              <a:t/>
            </a:r>
            <a:r>
              <a:rPr sz="1050">
                <a:solidFill>
                  <a:srgbClr val="1B1B1B"/>
                </a:solidFill>
                <a:latin typeface="Calibri"/>
              </a:rPr>
              <a:t>Weighted mid EUR 785m: the price is EUR 415m (53%) above.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Recommended range EUR 550 / 775 / 1,100m; price above its high end.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Only 2 of 7 methods reach EUR 1.2bn at their high end, both on EV/EBITDA.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Gap stays 46% to 68% under four weightings.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REVERSE DCF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To reach EUR 1.2bn on standalone cash flows, the terminal margin must be 35% to 43% or growth 5% to 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11_Post_Announcement_v2 financial model (Cases, reverse DCF; DCF_Valuation 'what you need to believe'). ANALYST CALCULATION; WACC 8.82%. Reported FY2025 margin: REPORTED. Nippon Paint 2026 margin ~26%: REPORTED, single-source (PCI Magazine).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74519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5361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 i="0">
                <a:solidFill>
                  <a:srgbClr val="1E2761"/>
                </a:solidFill>
                <a:latin typeface="Calibri"/>
              </a:rPr>
              <a:t>Terminal EBITDA margin, %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1874519"/>
          <a:ext cx="54864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536192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 i="0">
                <a:solidFill>
                  <a:srgbClr val="1E2761"/>
                </a:solidFill>
                <a:latin typeface="Calibri"/>
              </a:rPr>
              <a:t>Perpetual growth, % (WACC held at 8.82%)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155680" cy="822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559552"/>
            <a:ext cx="1097280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0" i="0">
                <a:solidFill>
                  <a:srgbClr val="1B1B1B"/>
                </a:solidFill>
                <a:latin typeface="Calibri"/>
              </a:rPr>
              <a:t>For reference: reported FY2025 margin 22.3%; Nippon Paint's reported 2026 projection ~26%. The gap could reflect synergies, a lower discount rate, a better business than reported, or strategic value; this analysis cannot tell which.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BUYER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Nippon Paint was the strongest fit we identified; who else bid is not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AkzoNobel release (SRC-037); 11_Post_Announcement_v2 Buyer_Analysis (Outcome_Summary). September ratings from 06_Buyer_Analysis, unchanged. 'Not mentioned' means absent from the coverage checked, not 'did not bid'.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4980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383280"/>
                <a:gridCol w="2286000"/>
              </a:tblGrid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Buyer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September rating (unchanged)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Outcome (Oct 2026)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1B1B"/>
                          </a:solidFill>
                          <a:latin typeface="Calibri"/>
                        </a:rPr>
                        <a:t>Nippon Paint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B"/>
                          </a:solidFill>
                          <a:latin typeface="Calibri"/>
                        </a:rPr>
                        <a:t>Strongest fit; highest regulatory risk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7D4F"/>
                          </a:solidFill>
                          <a:latin typeface="Calibri"/>
                        </a:rPr>
                        <a:t>BUYER (PUBLIC FACT)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1B1B"/>
                          </a:solidFill>
                          <a:latin typeface="Calibri"/>
                        </a:rPr>
                        <a:t>SCG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B"/>
                          </a:solidFill>
                          <a:latin typeface="Calibri"/>
                        </a:rPr>
                        <a:t>Best overlap; reported in preliminary talks (ION, one 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98A1A"/>
                          </a:solidFill>
                          <a:latin typeface="Calibri"/>
                        </a:rPr>
                        <a:t>NOT MENTIONED in 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1B1B"/>
                          </a:solidFill>
                          <a:latin typeface="Calibri"/>
                        </a:rPr>
                        <a:t>Kansai Paint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B"/>
                          </a:solidFill>
                          <a:latin typeface="Calibri"/>
                        </a:rPr>
                        <a:t>Plausible, weakly evidenced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A6072"/>
                          </a:solidFill>
                          <a:latin typeface="Calibri"/>
                        </a:rPr>
                        <a:t>No evidence either way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1B1B"/>
                          </a:solidFill>
                          <a:latin typeface="Calibri"/>
                        </a:rPr>
                        <a:t>Asian Paints / Berger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B"/>
                          </a:solidFill>
                          <a:latin typeface="Calibri"/>
                        </a:rPr>
                        <a:t>Like-for-like product; prior Indonesia exit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A6072"/>
                          </a:solidFill>
                          <a:latin typeface="Calibri"/>
                        </a:rPr>
                        <a:t>No evidence either 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1B1B"/>
                          </a:solidFill>
                          <a:latin typeface="Calibri"/>
                        </a:rPr>
                        <a:t>Sherwin-Williams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B"/>
                          </a:solidFill>
                          <a:latin typeface="Calibri"/>
                        </a:rPr>
                        <a:t>Weakest SEA fit; ample capacity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A6072"/>
                          </a:solidFill>
                          <a:latin typeface="Calibri"/>
                        </a:rPr>
                        <a:t>No evidence either way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1B1B"/>
                          </a:solidFill>
                          <a:latin typeface="Calibri"/>
                        </a:rPr>
                        <a:t>PPG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B1B1B"/>
                          </a:solidFill>
                          <a:latin typeface="Calibri"/>
                        </a:rPr>
                        <a:t>2024 divestiture argued against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A6072"/>
                          </a:solidFill>
                          <a:latin typeface="Calibri"/>
                        </a:rPr>
                        <a:t>No evidence either 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321040" y="1600200"/>
            <a:ext cx="3383280" cy="42062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69164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mbria"/>
              </a:rPr>
              <a:t>What was and was not knowable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03120"/>
            <a:ext cx="3200400" cy="3657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 i="0">
                <a:solidFill>
                  <a:srgbClr val="1B1B1B"/>
                </a:solidFill>
                <a:latin typeface="Calibri"/>
              </a:rPr>
              <a:t/>
            </a:r>
            <a:r>
              <a:rPr sz="1050">
                <a:solidFill>
                  <a:srgbClr val="1B1B1B"/>
                </a:solidFill>
                <a:latin typeface="Calibri"/>
              </a:rPr>
              <a:t>Right: overlap logic pointed at Nippon Paint, and the outcome matches. That is one data point, not proof the method works.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Partly missed: September treated a one-buyer and a country-by-country sale as equally open; the outcome is one buyer using several entities.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Not knowable from public information: the bidder list, other offers, and why Nippon Paint's earlier whole-division offer was rejected while this sale was agreed.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SYNERGIES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Closing the gap with cost synergies alone would take EUR 27m to 39m a year, far above September's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11_Post_Announcement_v2 Buyer_Analysis (Synergy_v2). ILLUSTRATIVE: pre-tax run-rate saving, capitalised at WACC 8.82% and growth 3.0%, tax 22.04%, one-off cost 1.0x saving. 'High single digits % of sales': REPORTED by one outlet (SRC-048), attribution not stated.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74519"/>
          <a:ext cx="76809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536192"/>
            <a:ext cx="76809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1" i="0">
                <a:solidFill>
                  <a:srgbClr val="1E2761"/>
                </a:solidFill>
                <a:latin typeface="Calibri"/>
              </a:rPr>
              <a:t>Run-rate annual saving, EUR m (ILLUSTRATIVE)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737360"/>
            <a:ext cx="3200400" cy="4251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82880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mbria"/>
              </a:rPr>
              <a:t>Reading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194560"/>
            <a:ext cx="3017520" cy="374903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 i="0">
                <a:solidFill>
                  <a:srgbClr val="1B1B1B"/>
                </a:solidFill>
                <a:latin typeface="Calibri"/>
              </a:rPr>
              <a:t/>
            </a:r>
            <a:r>
              <a:rPr sz="1050">
                <a:solidFill>
                  <a:srgbClr val="1B1B1B"/>
                </a:solidFill>
                <a:latin typeface="Calibri"/>
              </a:rPr>
              <a:t>Gap to standalone DCF: EUR 487m (Base, 41% of price) and EUR 346m (Buyer case, 29%).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Needed saving: 14.9% / 10.6% of FY2025 revenue, or 67% / 48% of EBITDA.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It could equally be a lower discount rate, a better business than reported, or strategic value. This cannot separate them.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Full run-rate from day one flatters the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PROCESS AND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From a reported review in April to a signed deal on 3 October, with closings staged through mid-2027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ION Analytics (SRC-001) for the September-reported steps; AkzoNobel release (SRC-037); signing date 3 Oct per PCI Magazine (SRC-039) and Pulse 2.0 (SRC-047). Process steps before signing are REPORTED; no bid information is public.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46120"/>
            <a:ext cx="10607040" cy="5486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31089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0" i="0">
                <a:solidFill>
                  <a:srgbClr val="1B1B1B"/>
                </a:solidFill>
                <a:latin typeface="Calibri"/>
              </a:rPr>
              <a:t>AkzoNobel CEO signals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1" i="0">
                <a:solidFill>
                  <a:srgbClr val="C98A1A"/>
                </a:solidFill>
                <a:latin typeface="Calibri"/>
              </a:rPr>
              <a:t>REPORTED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0" y="31089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36576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4005072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0" i="0">
                <a:solidFill>
                  <a:srgbClr val="1B1B1B"/>
                </a:solidFill>
                <a:latin typeface="Calibri"/>
              </a:rPr>
              <a:t>Goldman Sachs reportedly retained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5720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1" i="0">
                <a:solidFill>
                  <a:srgbClr val="C98A1A"/>
                </a:solidFill>
                <a:latin typeface="Calibri"/>
              </a:rPr>
              <a:t>REPORTED</a:t>
            </a:r>
          </a:p>
        </p:txBody>
      </p:sp>
      <p:sp>
        <p:nvSpPr>
          <p:cNvPr id="15" name="Oval 14"/>
          <p:cNvSpPr/>
          <p:nvPr/>
        </p:nvSpPr>
        <p:spPr>
          <a:xfrm>
            <a:off x="4343400" y="31089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39" y="18288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Mid-Sep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176272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0" i="0">
                <a:solidFill>
                  <a:srgbClr val="1B1B1B"/>
                </a:solidFill>
                <a:latin typeface="Calibri"/>
              </a:rPr>
              <a:t>Non-binding offers reportedly due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7432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1" i="0">
                <a:solidFill>
                  <a:srgbClr val="C98A1A"/>
                </a:solidFill>
                <a:latin typeface="Calibri"/>
              </a:rPr>
              <a:t>REPORTED</a:t>
            </a:r>
          </a:p>
        </p:txBody>
      </p:sp>
      <p:sp>
        <p:nvSpPr>
          <p:cNvPr id="19" name="Oval 18"/>
          <p:cNvSpPr/>
          <p:nvPr/>
        </p:nvSpPr>
        <p:spPr>
          <a:xfrm>
            <a:off x="5943600" y="31089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36576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3 Oct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4005072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0" i="0">
                <a:solidFill>
                  <a:srgbClr val="1B1B1B"/>
                </a:solidFill>
                <a:latin typeface="Calibri"/>
              </a:rPr>
              <a:t>Agreements signed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45720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1" i="0">
                <a:solidFill>
                  <a:srgbClr val="C98A1A"/>
                </a:solidFill>
                <a:latin typeface="Calibri"/>
              </a:rPr>
              <a:t>REPORTED (2 outlets)</a:t>
            </a:r>
          </a:p>
        </p:txBody>
      </p:sp>
      <p:sp>
        <p:nvSpPr>
          <p:cNvPr id="23" name="Oval 22"/>
          <p:cNvSpPr/>
          <p:nvPr/>
        </p:nvSpPr>
        <p:spPr>
          <a:xfrm>
            <a:off x="7543800" y="31089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8288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5 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176272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0" i="0">
                <a:solidFill>
                  <a:srgbClr val="1B1B1B"/>
                </a:solidFill>
                <a:latin typeface="Calibri"/>
              </a:rPr>
              <a:t>Announced by AkzoNobel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7432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1" i="0">
                <a:solidFill>
                  <a:srgbClr val="2E7D4F"/>
                </a:solidFill>
                <a:latin typeface="Calibri"/>
              </a:rPr>
              <a:t>PUBLIC FACT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0" y="31089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36576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Late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005072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0" i="0">
                <a:solidFill>
                  <a:srgbClr val="1B1B1B"/>
                </a:solidFill>
                <a:latin typeface="Calibri"/>
              </a:rPr>
              <a:t>Indonesia expected to close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5720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1" i="0">
                <a:solidFill>
                  <a:srgbClr val="2E7D4F"/>
                </a:solidFill>
                <a:latin typeface="Calibri"/>
              </a:rPr>
              <a:t>PUBLIC FACT</a:t>
            </a:r>
          </a:p>
        </p:txBody>
      </p:sp>
      <p:sp>
        <p:nvSpPr>
          <p:cNvPr id="31" name="Oval 30"/>
          <p:cNvSpPr/>
          <p:nvPr/>
        </p:nvSpPr>
        <p:spPr>
          <a:xfrm>
            <a:off x="10744200" y="310896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18288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mbria"/>
              </a:rPr>
              <a:t>Mid-2027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2176272"/>
            <a:ext cx="1554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50" b="0" i="0">
                <a:solidFill>
                  <a:srgbClr val="1B1B1B"/>
                </a:solidFill>
                <a:latin typeface="Calibri"/>
              </a:rPr>
              <a:t>Other transactions expected to close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74320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850" b="1" i="0">
                <a:solidFill>
                  <a:srgbClr val="2E7D4F"/>
                </a:solidFill>
                <a:latin typeface="Calibri"/>
              </a:rPr>
              <a:t>PUBLIC FACT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12080"/>
            <a:ext cx="11155680" cy="10515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230368"/>
            <a:ext cx="10972800" cy="10058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B1B1B"/>
                </a:solidFill>
                <a:latin typeface="Calibri"/>
              </a:rPr>
              <a:t>September's 'no timeline known' no longer holds. What is still not public: who participated, how many bids there were, and how the earlier whole-division offer (rejected) relates to this sale.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STRUCTURE AND CLOSING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Reported structure: several Nippon Paint entities take different countries, so closing risk is staged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Yahoo Finance Singapore / MT Newswires (SRC-042) for the buyer-entity structure (single article, REPORTED); AkzoNobel release (SRC-037) for timing and conditions. Risks listed are conditions in the release or general carve-out risks, not forecasts.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194560" cy="1463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2103120" cy="1371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AkzoNobel
sells Decorative Paints in 7 countries; keeps Coatings and Global Business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645920"/>
            <a:ext cx="484632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664208"/>
            <a:ext cx="4663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Vietnam, Singapore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01952"/>
            <a:ext cx="4663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1B1B1B"/>
                </a:solidFill>
                <a:latin typeface="Calibri"/>
              </a:rPr>
              <a:t>Nippon Paint Singapore buys the subsidiaries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743200" y="1965960"/>
            <a:ext cx="548640" cy="960120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291840" y="2395728"/>
            <a:ext cx="484632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414016"/>
            <a:ext cx="4663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Malaysia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51760"/>
            <a:ext cx="4663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1B1B1B"/>
                </a:solidFill>
                <a:latin typeface="Calibri"/>
              </a:rPr>
              <a:t>Nippon Paint (Malaysia) buys the unit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43200" y="2715768"/>
            <a:ext cx="548640" cy="210312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91840" y="3145536"/>
            <a:ext cx="484632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163824"/>
            <a:ext cx="4663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Indonesia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401568"/>
            <a:ext cx="4663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1B1B1B"/>
                </a:solidFill>
                <a:latin typeface="Calibri"/>
              </a:rPr>
              <a:t>Nippon Paint (H.K.) takes 100% of the JV from AkzoNobel and its partner; closes first, late 2026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2926080"/>
            <a:ext cx="548640" cy="539496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91840" y="3895344"/>
            <a:ext cx="484632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3913631"/>
            <a:ext cx="4663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Thailand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151376"/>
            <a:ext cx="4663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1B1B1B"/>
                </a:solidFill>
                <a:latin typeface="Calibri"/>
              </a:rPr>
              <a:t>Business transfers to Nippon Paint Decorative Coatings (Thailand)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43200" y="2926080"/>
            <a:ext cx="548640" cy="1289303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291840" y="4645152"/>
            <a:ext cx="484632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4663440"/>
            <a:ext cx="4663440" cy="256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Calibri"/>
              </a:rPr>
              <a:t>Australia, Papua New Guinea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901184"/>
            <a:ext cx="4663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 i="0">
                <a:solidFill>
                  <a:srgbClr val="1B1B1B"/>
                </a:solidFill>
                <a:latin typeface="Calibri"/>
              </a:rPr>
              <a:t>Operations move to DuluxGroup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0" y="2926080"/>
            <a:ext cx="548640" cy="2039112"/>
          </a:xfrm>
          <a:prstGeom prst="line">
            <a:avLst/>
          </a:prstGeom>
          <a:ln w="1905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412480" y="1645920"/>
            <a:ext cx="3291840" cy="3749039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1719072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 i="0">
                <a:solidFill>
                  <a:srgbClr val="1E2761"/>
                </a:solidFill>
                <a:latin typeface="Cambria"/>
              </a:rPr>
              <a:t>Closing conditions and risks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084831"/>
            <a:ext cx="3108960" cy="32918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 i="0">
                <a:solidFill>
                  <a:srgbClr val="1B1B1B"/>
                </a:solidFill>
                <a:latin typeface="Calibri"/>
              </a:rPr>
              <a:t/>
            </a:r>
            <a:r>
              <a:rPr sz="1050">
                <a:solidFill>
                  <a:srgbClr val="1B1B1B"/>
                </a:solidFill>
                <a:latin typeface="Calibri"/>
              </a:rPr>
              <a:t>Regulatory approvals and customary conditions (PUBLIC FACT).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Carve-out work to complete (PUBLIC FACT).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Overlap: September flagged Nippon Paint's position in Malaysia and Thailand. Whether review will be material is not known.</a:t>
            </a:r>
          </a:p>
          <a:p>
            <a:pPr>
              <a:spcBef>
                <a:spcPts val="600"/>
              </a:spcBef>
            </a:pPr>
            <a:r>
              <a:rPr sz="1050" b="0">
                <a:solidFill>
                  <a:srgbClr val="1B1B1B"/>
                </a:solidFill>
                <a:latin typeface="Calibri"/>
              </a:rPr>
              <a:t>Indonesia is a separate transaction involving a JV partner (REPORTED).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77840"/>
            <a:ext cx="111556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50" b="0" i="1">
                <a:solidFill>
                  <a:srgbClr val="5A6072"/>
                </a:solidFill>
                <a:latin typeface="Calibri"/>
              </a:rPr>
              <a:t>No view is given on why the structure was chosen. Transfers in Thailand, Australia and Papua New Guinea cover receivables, inventory and other assets and liabilities (REPORTED, SRC-042; single source: Yahoo Finance Singapore / MT Newswires).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WHAT SEPTEMBER GOT RIGHT AND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September's market-multiple evidence held up better than its DCF-led range and its perimeter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Post_Announcement_Addendum.md; 05_Valuation (September); 11_Post_Announcement_v2. Assessed against known outcomes without revising September's reasoning. One deal is one data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00" cy="2971800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00200"/>
            <a:ext cx="5486400" cy="2971800"/>
          </a:xfrm>
          <a:prstGeom prst="rect">
            <a:avLst/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52120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i="0">
                <a:solidFill>
                  <a:srgbClr val="2E7D4F"/>
                </a:solidFill>
                <a:latin typeface="Cambria"/>
              </a:rPr>
              <a:t>Held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21208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 i="0">
                <a:solidFill>
                  <a:srgbClr val="1B1B1B"/>
                </a:solidFill>
                <a:latin typeface="Calibri"/>
              </a:rPr>
              <a:t/>
            </a:r>
            <a:r>
              <a:rPr sz="1100">
                <a:solidFill>
                  <a:srgbClr val="1B1B1B"/>
                </a:solidFill>
                <a:latin typeface="Calibri"/>
              </a:rPr>
              <a:t>Trading-comps EV/EBITDA range (10.3x to 26.2x) bracketed the announced 20.8x on reported FY2025 EBITDA.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B1B1B"/>
                </a:solidFill>
                <a:latin typeface="Calibri"/>
              </a:rPr>
              <a:t>Nippon Paint rated the strongest fit and the highest regulatory risk; it is the buyer, and approvals are closing conditions.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B1B1B"/>
                </a:solidFill>
                <a:latin typeface="Calibri"/>
              </a:rPr>
              <a:t>The September framing that the asset might be sold as one platform was named as an option.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B1B1B"/>
                </a:solidFill>
                <a:latin typeface="Calibri"/>
              </a:rPr>
              <a:t>The EUR 300m revenue anchor and the 15.8% margin proxy were labelled illustrative in September, so the miss was disclosed rather than hidden.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64208"/>
            <a:ext cx="521208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1" i="0">
                <a:solidFill>
                  <a:srgbClr val="B03A2E"/>
                </a:solidFill>
                <a:latin typeface="Cambria"/>
              </a:rPr>
              <a:t>Did not hold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521208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 i="0">
                <a:solidFill>
                  <a:srgbClr val="1B1B1B"/>
                </a:solidFill>
                <a:latin typeface="Calibri"/>
              </a:rPr>
              <a:t/>
            </a:r>
            <a:r>
              <a:rPr sz="1100">
                <a:solidFill>
                  <a:srgbClr val="1B1B1B"/>
                </a:solidFill>
                <a:latin typeface="Calibri"/>
              </a:rPr>
              <a:t>Four countries (the announced perimeter is seven) and the EUR 300m revenue anchor (reported EUR 259m).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B1B1B"/>
                </a:solidFill>
                <a:latin typeface="Calibri"/>
              </a:rPr>
              <a:t>The 15.8% margin proxy (reported 22.3%).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B1B1B"/>
                </a:solidFill>
                <a:latin typeface="Calibri"/>
              </a:rPr>
              <a:t>The DCF-anchored EUR 500m to 775m recommendation: the price is 55% above its top; the v2 weighted range (EUR 550m to 1,100m) still sits below the price.</a:t>
            </a:r>
          </a:p>
          <a:p>
            <a:pPr>
              <a:spcBef>
                <a:spcPts val="600"/>
              </a:spcBef>
            </a:pPr>
            <a:r>
              <a:rPr sz="1100" b="0">
                <a:solidFill>
                  <a:srgbClr val="1B1B1B"/>
                </a:solidFill>
                <a:latin typeface="Calibri"/>
              </a:rPr>
              <a:t>Excluding the 25x JSW precedent from the working range; SCG as a likely participant (not mentioned in coverage, which does not show whether it bid); 'no timeline known'.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4663440"/>
          <a:ext cx="11155680" cy="1737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 i="0" spc="200">
                <a:solidFill>
                  <a:srgbClr val="C9A227"/>
                </a:solidFill>
                <a:latin typeface="Calibri"/>
              </a:rPr>
              <a:t>LIMITATIONS AND OPEN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600" b="1" i="0">
                <a:solidFill>
                  <a:srgbClr val="1E2761"/>
                </a:solidFill>
                <a:latin typeface="Cambria"/>
              </a:rPr>
              <a:t>The conclusions rest on reported financials, an illustrative country split and September 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1078992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 i="1">
                <a:solidFill>
                  <a:srgbClr val="5A6072"/>
                </a:solidFill>
                <a:latin typeface="Calibri"/>
              </a:rPr>
              <a:t>Source: 11_Post_Announcement_v2/README.md; Quality_Control_Review.md Addendum G and H. Classifications: PUBLIC FACT, REPORTED, ANALYST CALCULATION, ILLUSTRATIVE ASSUMPTION,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 i="0">
                <a:solidFill>
                  <a:srgbClr val="5A6072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155680" cy="65836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1737360" cy="658368"/>
          </a:xfrm>
          <a:prstGeom prst="rect">
            <a:avLst/>
          </a:prstGeom>
          <a:solidFill>
            <a:srgbClr val="C9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16459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645920"/>
            <a:ext cx="91440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0" i="0">
                <a:solidFill>
                  <a:srgbClr val="1B1B1B"/>
                </a:solidFill>
                <a:latin typeface="Calibri"/>
              </a:rPr>
              <a:t>FY2024/FY2025 revenue and EBITDA: several outlets, attributed to Nippon Paint; primary release not read; not in AkzoNobel's release.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04872"/>
            <a:ext cx="11155680" cy="65836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04872"/>
            <a:ext cx="1737360" cy="658368"/>
          </a:xfrm>
          <a:prstGeom prst="rect">
            <a:avLst/>
          </a:prstGeom>
          <a:solidFill>
            <a:srgbClr val="C9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16459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404872"/>
            <a:ext cx="91440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0" i="0">
                <a:solidFill>
                  <a:srgbClr val="1B1B1B"/>
                </a:solidFill>
                <a:latin typeface="Calibri"/>
              </a:rPr>
              <a:t>2026 projection (revenue above ~USD 330m, ~26% margin): single-source (PCI Magazine); absent from five other outlets checked.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63824"/>
            <a:ext cx="11155680" cy="65836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63824"/>
            <a:ext cx="1737360" cy="65836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16459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ILLUSTRATIVE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163824"/>
            <a:ext cx="91440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0" i="0">
                <a:solidFill>
                  <a:srgbClr val="1B1B1B"/>
                </a:solidFill>
                <a:latin typeface="Calibri"/>
              </a:rPr>
              <a:t>Country split, country risk premiums, margin fade, downside step-down, integration cost: no source.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22776"/>
            <a:ext cx="11155680" cy="65836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22776"/>
            <a:ext cx="1737360" cy="658368"/>
          </a:xfrm>
          <a:prstGeom prst="rect">
            <a:avLst/>
          </a:prstGeom>
          <a:solidFill>
            <a:srgbClr val="4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22776"/>
            <a:ext cx="16459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ANALYST CALC.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922776"/>
            <a:ext cx="91440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0" i="0">
                <a:solidFill>
                  <a:srgbClr val="1B1B1B"/>
                </a:solidFill>
                <a:latin typeface="Calibri"/>
              </a:rPr>
              <a:t>Comps dated 2026-09-18 and not refreshed; beta 0.821 unchanged; precedent EV/EBITDA rests on two data 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81728"/>
            <a:ext cx="11155680" cy="65836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681728"/>
            <a:ext cx="1737360" cy="658368"/>
          </a:xfrm>
          <a:prstGeom prst="rect">
            <a:avLst/>
          </a:prstGeom>
          <a:solidFill>
            <a:srgbClr val="5A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681728"/>
            <a:ext cx="16459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UNAVAILABLE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681728"/>
            <a:ext cx="91440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0" i="0">
                <a:solidFill>
                  <a:srgbClr val="1B1B1B"/>
                </a:solidFill>
                <a:latin typeface="Calibri"/>
              </a:rPr>
              <a:t>Equity value (perimeter net debt and minority share not disclosed); bidder list; whether the reported margin is standalone.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40679"/>
            <a:ext cx="11155680" cy="658368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440679"/>
            <a:ext cx="1737360" cy="658368"/>
          </a:xfrm>
          <a:prstGeom prst="rect">
            <a:avLst/>
          </a:prstGeom>
          <a:solidFill>
            <a:srgbClr val="5A60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440679"/>
            <a:ext cx="16459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NOT REFRESHED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5440679"/>
            <a:ext cx="91440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00" b="0" i="0">
                <a:solidFill>
                  <a:srgbClr val="1B1B1B"/>
                </a:solidFill>
                <a:latin typeface="Calibri"/>
              </a:rPr>
              <a:t>September Information Memorandum and 07_Pitch_Deck remain the September record; see the status notice in this folder.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