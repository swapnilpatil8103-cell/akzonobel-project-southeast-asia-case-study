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24"/>
    <p:sldId id="274" r:id="rId25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(EUR bn)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Decorative Paints</c:v>
                  </c:pt>
                  <c:pt idx="1">
                    <c:v>Performance Coatings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4.09</c:v>
                </c:pt>
                <c:pt idx="1">
                  <c:v>6.07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ASEAN Paints &amp; Coatings Market (USD bn)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7.78</c:v>
                </c:pt>
                <c:pt idx="1">
                  <c:v>8.17</c:v>
                </c:pt>
                <c:pt idx="2">
                  <c:v>8.58</c:v>
                </c:pt>
                <c:pt idx="3">
                  <c:v>9.01</c:v>
                </c:pt>
                <c:pt idx="4">
                  <c:v>9.46</c:v>
                </c:pt>
                <c:pt idx="5">
                  <c:v>9.92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E2761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A6072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A6072"/>
                    </a:solidFill>
                    <a:latin typeface="Arial"/>
                  </a:rPr>
                  <a:t>USD bn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(EUR mm)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FY2023</c:v>
                  </c:pt>
                  <c:pt idx="1">
                    <c:v>FY2024</c:v>
                  </c:pt>
                  <c:pt idx="2">
                    <c:v>FY2025</c:v>
                  </c:pt>
                  <c:pt idx="3">
                    <c:v>FY2026E</c:v>
                  </c:pt>
                  <c:pt idx="4">
                    <c:v>FY2027E</c:v>
                  </c:pt>
                  <c:pt idx="5">
                    <c:v>FY2028E</c:v>
                  </c:pt>
                  <c:pt idx="6">
                    <c:v>FY2029E</c:v>
                  </c:pt>
                  <c:pt idx="7">
                    <c:v>FY2030E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273.9</c:v>
                </c:pt>
                <c:pt idx="1">
                  <c:v>286.3</c:v>
                </c:pt>
                <c:pt idx="2">
                  <c:v>300</c:v>
                </c:pt>
                <c:pt idx="3">
                  <c:v>315</c:v>
                </c:pt>
                <c:pt idx="4">
                  <c:v>331.4</c:v>
                </c:pt>
                <c:pt idx="5">
                  <c:v>347.9</c:v>
                </c:pt>
                <c:pt idx="6">
                  <c:v>364.7</c:v>
                </c:pt>
                <c:pt idx="7">
                  <c:v>381.4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1B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DCF</c:v>
                  </c:pt>
                  <c:pt idx="1">
                    <c:v>Trading Comps (Rev)</c:v>
                  </c:pt>
                  <c:pt idx="2">
                    <c:v>Precedents</c:v>
                  </c:pt>
                  <c:pt idx="3">
                    <c:v>Recommended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468</c:v>
                </c:pt>
                <c:pt idx="1">
                  <c:v>570</c:v>
                </c:pt>
                <c:pt idx="2">
                  <c:v>87</c:v>
                </c:pt>
                <c:pt idx="3">
                  <c:v>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DCF</c:v>
                  </c:pt>
                  <c:pt idx="1">
                    <c:v>Trading Comps (Rev)</c:v>
                  </c:pt>
                  <c:pt idx="2">
                    <c:v>Precedents</c:v>
                  </c:pt>
                  <c:pt idx="3">
                    <c:v>Recommended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440</c:v>
                </c:pt>
                <c:pt idx="1">
                  <c:v>723</c:v>
                </c:pt>
                <c:pt idx="2">
                  <c:v>603</c:v>
                </c:pt>
                <c:pt idx="3">
                  <c:v>275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6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A6072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A6072"/>
                    </a:solidFill>
                    <a:latin typeface="Arial"/>
                  </a:rPr>
                  <a:t>Enterprise Value (EUR mm)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synergy (% of revenue)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Nippon Paint</c:v>
                  </c:pt>
                  <c:pt idx="1">
                    <c:v>Siam Cement Group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1.75</c:v>
                </c:pt>
                <c:pt idx="1">
                  <c:v>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 synergy (% of revenue)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Nippon Paint</c:v>
                  </c:pt>
                  <c:pt idx="1">
                    <c:v>Siam Cement Group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</c:v>
                </c:pt>
                <c:pt idx="1">
                  <c:v>1.75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072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072"/>
                    </a:solidFill>
                    <a:latin typeface="Arial"/>
                  </a:rPr>
                  <a:t>% of target revenue (midpoint)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B1B1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Announced EV
1,200</c:v>
                </c:pt>
                <c:pt idx="1">
                  <c:v>Comps EV/Revenue *
468-1,063</c:v>
                </c:pt>
                <c:pt idx="2">
                  <c:v>Comps EV/EBITDA *
594-1,511</c:v>
                </c:pt>
                <c:pt idx="3">
                  <c:v>DCF sensitivity
468-908</c:v>
                </c:pt>
                <c:pt idx="4">
                  <c:v>Recommended range
500-775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1185</c:v>
                </c:pt>
                <c:pt idx="1">
                  <c:v>468</c:v>
                </c:pt>
                <c:pt idx="2">
                  <c:v>594</c:v>
                </c:pt>
                <c:pt idx="3">
                  <c:v>468</c:v>
                </c:pt>
                <c:pt idx="4">
                  <c:v>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 (EUR m)</c:v>
                </c:pt>
              </c:strCache>
            </c:strRef>
          </c:tx>
          <c:spPr>
            <a:solidFill>
              <a:srgbClr val="1E2761"/>
            </a:solidFill>
            <a:ln>
              <a:noFill/>
            </a:ln>
          </c:spPr>
          <c:dPt>
            <c:idx val="0"/>
            <c:spPr>
              <a:solidFill>
                <a:srgbClr val="C9A227"/>
              </a:solidFill>
            </c:spPr>
          </c:dPt>
          <c:cat>
            <c:strRef>
              <c:f>Sheet1!$A$2:$A$6</c:f>
              <c:strCache>
                <c:ptCount val="5"/>
                <c:pt idx="0">
                  <c:v>Announced EV
1,200</c:v>
                </c:pt>
                <c:pt idx="1">
                  <c:v>Comps EV/Revenue *
468-1,063</c:v>
                </c:pt>
                <c:pt idx="2">
                  <c:v>Comps EV/EBITDA *
594-1,511</c:v>
                </c:pt>
                <c:pt idx="3">
                  <c:v>DCF sensitivity
468-908</c:v>
                </c:pt>
                <c:pt idx="4">
                  <c:v>Recommended range
500-775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</c:v>
                </c:pt>
                <c:pt idx="1">
                  <c:v>595</c:v>
                </c:pt>
                <c:pt idx="2">
                  <c:v>917</c:v>
                </c:pt>
                <c:pt idx="3">
                  <c:v>440</c:v>
                </c:pt>
                <c:pt idx="4">
                  <c:v>275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4D2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0.0"/>
          <c:min val="0.0"/>
        </c:scaling>
        <c:delete val="0"/>
        <c:axPos val="b"/>
        <c:majorGridlines>
          <c:spPr>
            <a:ln>
              <a:solidFill>
                <a:srgbClr val="E3E6EE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 b="0">
                    <a:solidFill>
                      <a:srgbClr val="5A6072"/>
                    </a:solidFill>
                    <a:latin typeface="Calibri"/>
                  </a:rPr>
                  <a:t>Enterprise Value (EUR m)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0.0"/>
      </c:valAx>
    </c:plotArea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SOUTHEAST ASIA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Sell-Side Review — AkzoNobel Southeast Asia Decorative Paints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292608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794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Student M&amp;A Case Study  |  September 2026  |  Updated 9 October 2026 for the announced sale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9A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student analysis/reconstruction based on publicly available information. Not affiliated with, commissioned by, or representative of Goldman Sachs or AkzoNobel.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AkzoNobel reviewed a sale of its Southeast Asia decorative paints platform; Nippon Paint agreed to buy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37560" y="169164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37560" y="16916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AkzoNobel N.V. (market cap ~USD 12.5bn; FY2025 group revenue ~USD 11.5bn)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Adviser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37560" y="233172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37560" y="233172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 Sachs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9718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Under Review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297180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297180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paints operations across Indonesia, Thailand, Malaysia, Vietnam (as reported, Sep-2026)</a:t>
            </a:r>
            <a:r>
              <a:rPr lang="en-US" sz="1200" dirty="0" b="1" i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UPDATE: announced perimeter is seven countries; adds Singapore, Papua New Guinea, Australia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6118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Revenue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37560" y="361188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337560" y="361188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300m (~USD 346m) annual, per ION Analytics</a:t>
            </a:r>
            <a:r>
              <a:rPr lang="en-US" sz="1200" dirty="0" b="1" i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UPDATE: reported FY25 revenue ~USD 291m, EBITDA ~USD 65m (several outlets, attributed to Nippon Paint)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25196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2519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Timing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37560" y="425196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337560" y="425196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flagged review Apr-2026; non-binding offers reported due mid-Sep-2026</a:t>
            </a:r>
            <a:r>
              <a:rPr lang="en-US" sz="1200" dirty="0" b="1" i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UPDATE: signed 3 Oct, announced 5 Oct 2026; Indonesia closes late 2026, rest mid-2027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89204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48920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Structure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37560" y="489204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37560" y="48920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be sold as one region-wide platform, or country-by-country to local players</a:t>
            </a:r>
            <a:r>
              <a:rPr lang="en-US" sz="1200" dirty="0" b="1" i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UPDATE: one package to a single buyer, with staged closings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53212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5321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Bidder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37560" y="553212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337560" y="553212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Cement Group (SCG) reported in preliminary discussions</a:t>
            </a:r>
            <a:r>
              <a:rPr lang="en-US" sz="1200" dirty="0" b="1" i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UPDATE: buyer is Nippon Paint; EV ~USD 1.35bn (EUR 1.20bn), 21x FY25 EBITDA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ION Analytics/Mergermarket, 'AkzoNobel taps Goldman Sachs for sale of Southeast Asia paints assets' (SRC-001). See 01_Source_Data/Transaction_Research.md.  Update: SRC-037, SRC-039.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AkzoNobel is a global paints and coatings leader executing a portfolio reshaping program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11.5bn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146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group revenue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37560" y="1874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 4.09bn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5146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Decorative Paints segment revenue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26480" y="17373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26480" y="1874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15.8%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5146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Decorative Paints adj. EBITDA margin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15400" y="17373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15400" y="1874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12.5bn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5146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capitalization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portfolio actions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84048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Jun-Dec 2025: Sold 74.76% of AkzoNobel India to JSW Group for EUR1.4bn (25x EBITDA) — India liquid paints/coatings, incl. Dulux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2026: Rejected an unsolicited EUR7.5bn offer from Nippon Paint for the entire global Decorative Paints segment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2026: CEO signaled review of Southeast Asia decorative paints businesses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429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revenue by segment, FY2025 (EUR bn)</a:t>
            </a:r>
            <a:endParaRPr lang="en-US" sz="16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92240" y="3840480"/>
          <a:ext cx="51206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AkzoNobel FY2025 results release; PCI Magazine '2026 Global Top 10'; 04_Precedent_Transactions.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modelled markets have confirmed entities and sites; the announced perimeter spans seven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Indonesia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ICI Paints Indonesia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Tangerang (decorative)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1971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3593592" y="18745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93592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Thailand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Akzo Nobel Paints (Thailand) Ltd.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593592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(decorative)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entry 1963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81344" y="169164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9944" y="18745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9944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9944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Malaysia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9944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Akzo Nobel Paints (Malaysia) Sdn Bhd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not confirmed this pass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Formerly ICI Paints (Malaysia)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997696" y="169164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B"/>
          </a:solidFill>
          <a:ln/>
        </p:spPr>
      </p:sp>
      <p:sp>
        <p:nvSpPr>
          <p:cNvPr id="26" name="Shape 24"/>
          <p:cNvSpPr/>
          <p:nvPr/>
        </p:nvSpPr>
        <p:spPr>
          <a:xfrm>
            <a:off x="9226296" y="18745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226296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226296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Vietnam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Akzo Nobel Paints Vietnam Ltd.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Cat, Binh Duong (100m litre capacity)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226296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LEED Gold certified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709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note: each market also hosts separate AkzoNobel Performance Coatings (industrial/powder) sites judged, as an analyst inference, to sit OUTSIDE the reported decorative-paints perimeter — see 01_Source_Data/SEA_Asset_Perimeter.xlsx.</a:t>
            </a:r>
            <a:r>
              <a:rPr lang="en-US" sz="1050" i="0" dirty="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UPDATE (Oct 2026): the announced perimeter is decorative paints in seven countries, adding Singapore, Papua New Guinea and Australia; the Malaysia site is still to be verified.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Dulux Indonesia/Malaysia; Coatings World; NTCC Thailand; OpenCorpData/LEI Register. 01_Source_Data/SEA_Asset_Perimeter.xlsx.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CONTEXT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ASEAN paints and coatings market is projected to grow at a ~5% CAGR through 2031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98080" y="1691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drivers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210312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construction activity across Indonesia, Vietnam and Thailand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Government-backed infrastructure programs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industrial investment (incl. EV-related manufacturing)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urbanization and middle-class housing demand across all four markets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ION Analytics article citing ASEAN paints &amp; coatings market sizing, 2026-2031.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Nippon Paint holds the deepest regional overlap; AkzoNobel competes across a fragmented field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83464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37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8229600" cy="411480"/>
          </a:xfrm>
          <a:prstGeom prst="rect">
            <a:avLst/>
          </a:prstGeom>
          <a:solidFill>
            <a:srgbClr val="1E2761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7373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SEA Decorative Position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2834640" cy="777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Nippon Paint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2194560"/>
            <a:ext cx="8229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219456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in Malaysia decorative (26yr history); ~50% JV share in Thailand decorative; Vietnam production; Indonesia technical alliance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2834640" cy="777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0175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leaders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29000" y="3017520"/>
            <a:ext cx="8229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20440" y="30175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Thailand: Toa leads decorative, ahead of Nippon Paint's ~50%-share JV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2834640" cy="777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Paints / Berger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429000" y="3840480"/>
            <a:ext cx="8229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20440" y="38404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Paints exited Indonesia (divested); Berger manufactures in Malaysia/Singapore, serves Indonesia/Vietnam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663440"/>
            <a:ext cx="2834640" cy="777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663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Cement Group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29000" y="4663440"/>
            <a:ext cx="8229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20440" y="4663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sold as one category within its broader Smart Living building-materials retail channel across all 4 markets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2834640" cy="777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54864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Sherwin-Williams / PPG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429000" y="5486400"/>
            <a:ext cx="8229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520440" y="54864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SEA decorative market-share data identified — limited confirmed regional decorative presence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search aggregation of company/trade-press disclosures — see 06_Buyer_Analysis/Buyer_Fit_Matrix for full evidence citations.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PERFORMANCE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revenue build reaches EUR381m by FY2030E on a ~5% CAGR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98080" y="1691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metrics (FY2026E)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2148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423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 315mm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926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(16.5% margin)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3200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 52mm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498080" y="3703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FCF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3977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 21mm (net of one-time separation costs)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5720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on this slide beyond the EUR300m FY2025 revenue anchor is an ILLUSTRATIVE ASSUMPTION — no SEA-specific EBITDA, margin or cash-flow data is publicly disclosed. See 02_Financial_Model/README.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02_Financial_Model/Project_Southeast_Asia_Financial_Model.xlsx.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HIGHLIGHTS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scaled, multi-country decorative platform in a structurally growing region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659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platform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718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decorative operations across four ASEAN markets with distinct legal entities and confirmed manufacturing footprint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9659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1965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5146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growth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9718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ASEAN paints market projected to grow from USD7.78bn (2026) to USD9.92bn (2031), a ~5.0% CAGR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6760" y="19659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1965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5146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Optionality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9718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seller openness to a whole-region sale or country-by-country carve-up to local players maximizing synergy fit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3891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389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9377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Established brand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3949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Dulux brand equity across all four markets, alongside Eka and other AkzoNobel decorative lines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43400" y="416052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0" y="43891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0" y="4389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9377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Scarcity value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3949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assets of this scale and multi-country reach become available in SEA decorative paints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38160" y="416052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30" name="Shape 28"/>
          <p:cNvSpPr/>
          <p:nvPr/>
        </p:nvSpPr>
        <p:spPr>
          <a:xfrm>
            <a:off x="8366760" y="43891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66760" y="4389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49377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Motivated buyer field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53949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strategics (Nippon Paint, SCG, Asian Paints/Berger) have direct evidenced regional overlap or stated interest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01_Source_Data, 06_Buyer_Analysis. Highlights are analyst-drafted narrative framing of disclosed facts, not independently disclosed claims.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Triangulated methodologies point to a recommended EUR500-775m Enterprise Value range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3152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0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range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011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EUR500-775mm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606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Mid: EUR625mm  |  ~2.0x FY26E Revenue  |  ~12.0x FY26E EBITDA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2004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on the DCF base case, cross-checked against the two most structurally comparable precedents (Sherwin-Williams/BASF Suvinil; Nippon Paint/AkzoNobel rejected global offer). Trading comps and JSW/PPG outliers treated as context, not primary drivers.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05_Valuation/Project_Southeast_Asia_Valuation.xlsx (Triangulation tab).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UNIVERSE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named strategics span pure-play coatings majors to a diversified regional conglomerate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Nippon Paint Holdings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evidenced SEA overlap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1762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Siam Cement Group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7889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in preliminary discussions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173736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6676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1762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Asian Paints / Berger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27889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pure-play, mixed regional footprint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3708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Sherwin-Williams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9834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balance sheet, limited SEA presence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43400" y="393192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3708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PPG Industries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9834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in commentary; recent decorative divestiture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393192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6676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43708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Kansai Paint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366760" y="49834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presence, smallest balance sheet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ION Analytics article (buyer commentary); 06_Buyer_Analysis/Buyer_Fit_Matrix.xlsx.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STRATEGIC FIT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Nippon Paint's deep overlap cuts both ways: highest synergy potential, highest regulatory risk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3774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3736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926080" y="1737360"/>
            <a:ext cx="301752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99232" y="1737360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Fit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43600" y="1737360"/>
            <a:ext cx="301752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16752" y="1737360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Risk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961120" y="1737360"/>
            <a:ext cx="265176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34272" y="173736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Capacity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139696"/>
            <a:ext cx="2377440" cy="658368"/>
          </a:xfrm>
          <a:prstGeom prst="rect">
            <a:avLst/>
          </a:prstGeom>
          <a:solidFill>
            <a:srgbClr val="F4F6FB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139696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Nippon Paint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2926080" y="21396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99232" y="21396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— all 4 markets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5943600" y="21396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16752" y="21396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— #2 Malaysia, ~50% Thailand JV share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8961120" y="2139696"/>
            <a:ext cx="2651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34272" y="2139696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Ample (EV ~USD21.4bn)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548640" y="2825496"/>
            <a:ext cx="2377440" cy="658368"/>
          </a:xfrm>
          <a:prstGeom prst="rect">
            <a:avLst/>
          </a:prstGeom>
          <a:solidFill>
            <a:srgbClr val="F4F6FB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825496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Cement Group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2926080" y="28254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99232" y="28254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— full ASEAN retail network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943600" y="28254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16752" y="28254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— paint not separately disclosed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8961120" y="2825496"/>
            <a:ext cx="2651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34272" y="2825496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 (~USD14.9bn revenue)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548640" y="3511296"/>
            <a:ext cx="2377440" cy="658368"/>
          </a:xfrm>
          <a:prstGeom prst="rect">
            <a:avLst/>
          </a:prstGeom>
          <a:solidFill>
            <a:srgbClr val="F4F6FB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511296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Sherwin-Williams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2926080" y="35112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99232" y="35112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— limited evidenced SEA share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5943600" y="35112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16752" y="35112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minimal existing overlap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8961120" y="3511296"/>
            <a:ext cx="2651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34272" y="3511296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balance sheet (EV ~USD91.7bn)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48640" y="4197096"/>
            <a:ext cx="2377440" cy="658368"/>
          </a:xfrm>
          <a:prstGeom prst="rect">
            <a:avLst/>
          </a:prstGeom>
          <a:solidFill>
            <a:srgbClr val="F4F6FB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4197096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Paints/Berger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2926080" y="41970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99232" y="41970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— Asian Paints exited Indonesia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5943600" y="41970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016752" y="41970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limited confirmed overlap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8961120" y="4197096"/>
            <a:ext cx="2651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034272" y="4197096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(Asian Paints EV ~EUR24bn eq.)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548640" y="4882896"/>
            <a:ext cx="2377440" cy="658368"/>
          </a:xfrm>
          <a:prstGeom prst="rect">
            <a:avLst/>
          </a:prstGeom>
          <a:solidFill>
            <a:srgbClr val="F4F6FB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4882896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 Industries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2926080" y="48828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999232" y="48828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 — no SEA-specific data found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5943600" y="48828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16752" y="48828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8961120" y="4882896"/>
            <a:ext cx="2651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034272" y="4882896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Ample (mkt cap ~USD24.5bn)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06_Buyer_Analysis/Buyer_Fit_Matrix.xlsx — full evidence-based citations per row.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SYNERGY ANALYSIS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synergy potential is highest for buyers with existing regional manufacturing scale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178040" y="17373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178040" y="214884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buyer- or deal-specific synergy figure is publicly disclosed for this transaction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 sized using standard percentage-of-revenue M&amp;A synergy heuristics, applied to each buyer's evidenced regional overlap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Nippon Paint: highest cost synergy potential (manufacturing/distribution overlap in Malaysia, Thailand)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SCG: revenue synergy from cross-sell through its existing building-materials retail channel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06_Buyer_Analysis/Synergy_Analysis.xlsx. ILLUSTRATIVE ASSUMPTION — methodology disclosed, not a disclosed deal figure.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viable structures reflect the seller's reported openness to a whole-region or split sale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4206240"/>
          </a:xfrm>
          <a:prstGeom prst="roundRect">
            <a:avLst>
              <a:gd name="adj" fmla="val 1304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A: Single Regional Sale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buyer acquires all four country platforms as a combined SEA decorative business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execution — single SPA, single diligence process, single close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suited to a buyer with existing pan-regional infrastructure (e.g., Nippon Paint)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Maximizes control premium if a strategic values the full platform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737360"/>
            <a:ext cx="5486400" cy="4206240"/>
          </a:xfrm>
          <a:prstGeom prst="roundRect">
            <a:avLst>
              <a:gd name="adj" fmla="val 1304"/>
            </a:avLst>
          </a:prstGeom>
          <a:solidFill>
            <a:srgbClr val="F4F6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19202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B: Country-by-Country Sale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46888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country sold separately to the local/regional buyer offering the greatest synergies there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contemplated in the ION Analytics reporting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SCG (Thailand-centric) and other buyers to bid only where they have the strongest fit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complex execution — multiple SPAs, parallel processes, potential timing mismatch across closes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ION Analytics article's stated sale-structure optionality; 01_Source_Data/Transaction_Research.md.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Update note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i="1" b="1">
                <a:solidFill>
                  <a:srgbClr val="1E2761"/>
                </a:solidFill>
                <a:latin typeface="Calibri"/>
              </a:rPr>
              <a:t>Update (Oct 2026): the announced deal sits between the options: one buyer, seven countries, staged closings (Indonesia first).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Reported timeline pointed to non-binding offers in mid-September; binding agreements followed on 3 October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39446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9446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88920" y="2194560"/>
            <a:ext cx="182880" cy="0"/>
          </a:xfrm>
          <a:prstGeom prst="line">
            <a:avLst/>
          </a:prstGeom>
          <a:noFill/>
          <a:ln w="25400">
            <a:solidFill>
              <a:srgbClr val="C7CC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2026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CEO comments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290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AkzoNobel CEO signals review of SEA decorative paints businesses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7190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190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66360" y="2194560"/>
            <a:ext cx="182880" cy="0"/>
          </a:xfrm>
          <a:prstGeom prst="line">
            <a:avLst/>
          </a:prstGeom>
          <a:noFill/>
          <a:ln w="25400">
            <a:solidFill>
              <a:srgbClr val="C7CC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651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Adviser engaged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4290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 Sachs reportedly retained to run the process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4934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4934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194560"/>
            <a:ext cx="182880" cy="0"/>
          </a:xfrm>
          <a:prstGeom prst="line">
            <a:avLst/>
          </a:prstGeom>
          <a:noFill/>
          <a:ln w="25400">
            <a:solidFill>
              <a:srgbClr val="C7CC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0" y="2651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Preliminary discussions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4290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SCG reported among parties in early discussions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2678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267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921240" y="2194560"/>
            <a:ext cx="182880" cy="0"/>
          </a:xfrm>
          <a:prstGeom prst="line">
            <a:avLst/>
          </a:prstGeom>
          <a:noFill/>
          <a:ln w="25400">
            <a:solidFill>
              <a:srgbClr val="C7CC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80960" y="2651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Mid-Sep 2026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68096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Non-binding offers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4290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NBOs reportedly due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90422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9042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0" y="2651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Oct 2026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and closings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0" y="342900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3 Oct, announced 5 Oct; Indonesia expected late 2026, rest mid-2027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(9 Oct 2026): AkzoNobel announced binding agreements on 5 Oct 2026 for a seven-country sale to Nippon Paint; closings are subject to regulatory approvals. Steps 1-4 are the September reporting (ION Analytics).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ION Analytics article (steps 1-4); AkzoNobel media release, 5 Oct 2026 (SRC-037); PCI Magazine (SRC-039, signing date).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scarcity, regulatory overlap and multi-country execution are the principal risk factors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65960"/>
            <a:ext cx="320040" cy="32004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data scarcity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2608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SEA-specific EBITDA, margin, working capital or balance-sheet data is publicly disclosed — every valuation output rests on illustrative assumptions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965960"/>
            <a:ext cx="320040" cy="32004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1965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4231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/ antitrust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92608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sale to a buyer with deep existing overlap (e.g., Nippon Paint in Malaysia/Thailand) could face material merger-control scrutiny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6760" y="1965960"/>
            <a:ext cx="320040" cy="32004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1965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4231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Perimeter uncertainty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92608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Performance Coatings assets, shared services, or specific brands transfer with the decorative business is not confirmed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389120"/>
            <a:ext cx="320040" cy="32004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389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846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Multi-country complexity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34924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country-by-country sale structure multiplies regulatory approvals, SPAs, and closing-condition risk across four jurisdictions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43400" y="416052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0" y="4389120"/>
            <a:ext cx="320040" cy="32004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0" y="4389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846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Carve-out execution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34924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 dependency, stranded costs and standalone systems build-out carry real integration risk not sized by any public disclosure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38160" y="416052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30" name="Shape 28"/>
          <p:cNvSpPr/>
          <p:nvPr/>
        </p:nvSpPr>
        <p:spPr>
          <a:xfrm>
            <a:off x="8366760" y="4389120"/>
            <a:ext cx="320040" cy="32004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66760" y="4389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4846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dispersion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534924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DCF, trading comps and precedent transactions do not converge — a genuine finding that widens the defensible pricing range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synthesized across 01_Source_Data through 06_Buyer_Analysis workbooks.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SENSITIVITY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Enterprise Value ranges EUR468-908mm across a plausible WACC / terminal-growth band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\ Terminal Growth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737360" y="1645920"/>
            <a:ext cx="14173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737360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2.0%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154680" y="1645920"/>
            <a:ext cx="14173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54680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14173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89320" y="1645920"/>
            <a:ext cx="14173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89320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06640" y="1645920"/>
            <a:ext cx="14173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06640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011680"/>
            <a:ext cx="118872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0116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7.88%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737360" y="2011680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737360" y="20116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154680" y="2011680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54680" y="20116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0" y="2011680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20116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744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989320" y="2011680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89320" y="20116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816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06640" y="2011680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06640" y="20116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908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2578608"/>
            <a:ext cx="118872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25786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737360" y="2578608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737360" y="257860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583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154680" y="2578608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154680" y="257860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0" y="2578608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0" y="257860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672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989320" y="2578608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89320" y="257860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406640" y="2578608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06640" y="257860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802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3145536"/>
            <a:ext cx="118872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314553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8.88%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737360" y="3145536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737360" y="31455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539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154680" y="3145536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54680" y="31455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573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0" y="3145536"/>
            <a:ext cx="1417320" cy="566928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72000" y="31455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989320" y="3145536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989320" y="31455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406640" y="3145536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406640" y="31455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718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118872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48640" y="371246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9.38%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737360" y="3712464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737360" y="37124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501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154680" y="3712464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154680" y="37124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530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572000" y="3712464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0" y="37124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989320" y="3712464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989320" y="37124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603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406640" y="3712464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06640" y="37124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649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79392"/>
            <a:ext cx="118872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48640" y="427939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9.88%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737360" y="4279392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737360" y="42793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3154680" y="4279392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154680" y="42793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572000" y="4279392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572000" y="42793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5989320" y="4279392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989320" y="42793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554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7406640" y="4279392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406640" y="42793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593</a:t>
            </a:r>
            <a:endParaRPr lang="en-US" sz="110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51206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Value, EUR mm. Base case (WACC 8.88%, terminal growth 3.0%) highlighted.</a:t>
            </a:r>
            <a:endParaRPr lang="en-US" sz="10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02_Financial_Model/DCF_Valuation tab; 05_Valuation/DCF_Summary.xlsx.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MARKETING STRATEGY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staged, dual-track process balances platform value against structural flexibility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37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 outreach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3736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global strategics (Nippon Paint, Sherwin-Williams, PPG, Kansai Paint) and regional players (SCG, Asian Paints/Berger) in parallel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Dual-track structuring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78892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 both whole-region bids and country-specific bids to preserve the seller's stated optionality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840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presentations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84048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carve-out financials and perimeter clarity to shortlisted bidders — the single largest information gap identified in this project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892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bids and selection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489204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whole-region vs. split-sale proceeds net of execution complexity and closing-condition risk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prioritize Sherwin-Williams/Suvinil-style structural comparables and Nippon Paint's evidenced regional scale as primary go-to bidders, while running SCG and Asian Paints/Berger as credible alternates.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recommendation synthesizing 05_Valuation and 06_Buyer_Analysis — not a disclosed process plan.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POST-ANNOUNCEMENT UPDATE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The announced deal was wider and richer than the September case study assumed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AkzoNobel media release, 5 Oct 2026 (SRC-037); SEC Form 6-K (SRC-038); PCI Magazine (SRC-039); 02_Financial_Model; 10_Supporting_Research/Post_Announcement_Addendum.md.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5A6072"/>
                </a:solidFill>
                <a:latin typeface="Calibri"/>
              </a:rPr>
              <a:t>18</a:t>
            </a:r>
          </a:p>
        </p:txBody>
      </p:sp>
      <p:graphicFrame>
        <p:nvGraphicFramePr>
          <p:cNvPr id="6" name="Comparison table"/>
          <p:cNvGraphicFramePr>
            <a:graphicFrameLocks noGrp="1"/>
          </p:cNvGraphicFramePr>
          <p:nvPr/>
        </p:nvGraphicFramePr>
        <p:xfrm>
          <a:off x="548640" y="1691640"/>
          <a:ext cx="11064240" cy="4206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4572000"/>
                <a:gridCol w="46634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91440" marR="91440" marT="36576" marB="36576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Case study (September 2026)</a:t>
                      </a:r>
                    </a:p>
                  </a:txBody>
                  <a:tcPr anchor="ctr" marL="91440" marR="91440" marT="36576" marB="36576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Announced / reported (October 2026)</a:t>
                      </a:r>
                    </a:p>
                  </a:txBody>
                  <a:tcPr anchor="ctr" marL="91440" marR="91440" marT="36576" marB="36576"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Perimeter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Four countries (Indonesia, Thailand, Malaysia, Vietnam); decorative only (analyst inference)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Seven countries, adding Singapore, Papua New Guinea, Australia; decorative only; AkzoNobel keeps Coatings and Global Business Services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FY2025 revenue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EUR 300m anchor (ION Analytics)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About EUR 259m (USD 291m), seven countries *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FY2025 EBITDA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EUR 47.4m (15.8% group Decorative Paints margin used as proxy)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About EUR 58m (USD 65m), 22% margin *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Enterprise value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EUR 500-775m recommended (DCF base EUR 613m)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EUR 1.20bn (USD 1.35bn)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Multiple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Mid-point implies ~10.8x FY25 EBITDA and ~2.4x revenue on the reported figures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21x FY25 EBITDA (about 16x 2026E per Nippon Paint *); ~4.6x FY25 revenue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Nippon Paint: strongest fit and highest regulatory risk; SCG in preliminary talks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Nippon Paint; regulatory approvals are closing conditions; SCG not mentioned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Timeline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Non-binding offers mid-Sep 2026; nothing known after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Signed 3 Oct, announced 5 Oct 2026; Indonesia closes late 2026, rest mid-2027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1">
                <a:solidFill>
                  <a:srgbClr val="5A6072"/>
                </a:solidFill>
                <a:latin typeface="Calibri"/>
              </a:rPr>
              <a:t>* Reported by several outlets, attributed to Nippon Paint; primary Nippon Paint release not read; not in AkzoNobel's release. EUR at the release-implied USD 1.125 per EUR. The September model and valuation have not been re-run on the announced deal.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VALUATION BACK-TEST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The announced price is 55% above the recommended range; EBITDA comps were the method that bracketed it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Post_Announcement_Addendum.md; 05_Valuation; 03_Trading_Comps; SRC-037; SRC-039. * P25-P75 comps multiples applied to reported FY25 EBITDA/revenue; USD to EUR at 1.125.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5A6072"/>
                </a:solidFill>
                <a:latin typeface="Calibri"/>
              </a:rPr>
              <a:t>19</a:t>
            </a:r>
          </a:p>
        </p:txBody>
      </p:sp>
      <p:graphicFrame>
        <p:nvGraphicFramePr>
          <p:cNvPr id="6" name="Back-test chart"/>
          <p:cNvGraphicFramePr>
            <a:graphicFrameLocks noGrp="1"/>
          </p:cNvGraphicFramePr>
          <p:nvPr/>
        </p:nvGraphicFramePr>
        <p:xfrm>
          <a:off x="548640" y="1737360"/>
          <a:ext cx="7498079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Panel label"/>
          <p:cNvSpPr txBox="1"/>
          <p:nvPr/>
        </p:nvSpPr>
        <p:spPr>
          <a:xfrm>
            <a:off x="8321040" y="1783080"/>
            <a:ext cx="3291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5A6072"/>
                </a:solidFill>
                <a:latin typeface="Calibri"/>
              </a:rPr>
              <a:t>Announced enterprise value</a:t>
            </a:r>
          </a:p>
        </p:txBody>
      </p:sp>
      <p:sp>
        <p:nvSpPr>
          <p:cNvPr id="8" name="Panel stat"/>
          <p:cNvSpPr txBox="1"/>
          <p:nvPr/>
        </p:nvSpPr>
        <p:spPr>
          <a:xfrm>
            <a:off x="8321040" y="2057400"/>
            <a:ext cx="3291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EUR 1.20bn</a:t>
            </a:r>
          </a:p>
        </p:txBody>
      </p:sp>
      <p:sp>
        <p:nvSpPr>
          <p:cNvPr id="9" name="Panel sub"/>
          <p:cNvSpPr txBox="1"/>
          <p:nvPr/>
        </p:nvSpPr>
        <p:spPr>
          <a:xfrm>
            <a:off x="8321040" y="2606040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i="0">
                <a:solidFill>
                  <a:srgbClr val="5A6072"/>
                </a:solidFill>
                <a:latin typeface="Calibri"/>
              </a:rPr>
              <a:t>21x FY25 EBITDA  |  USD 1.35bn</a:t>
            </a:r>
          </a:p>
        </p:txBody>
      </p:sp>
      <p:sp>
        <p:nvSpPr>
          <p:cNvPr id="10" name="Panel text"/>
          <p:cNvSpPr txBox="1"/>
          <p:nvPr/>
        </p:nvSpPr>
        <p:spPr>
          <a:xfrm>
            <a:off x="8321040" y="3108960"/>
            <a:ext cx="32918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1B1B1B"/>
                </a:solidFill>
                <a:latin typeface="Calibri"/>
              </a:rPr>
              <a:t>1.55x the top of the recommended range and about 1.9x its mid-point (EUR 625m).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1B1B1B"/>
                </a:solidFill>
                <a:latin typeface="Calibri"/>
              </a:rPr>
              <a:t>The EV/EBITDA comps range (10.3x-26.2x) brackets the deal's 20.8x. The DCF range and the revenue-based comps do not.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1B1B1B"/>
                </a:solidFill>
                <a:latin typeface="Calibri"/>
              </a:rPr>
              <a:t>The back-test applies September multiples to reported FY25 figures (attributed to Nippon Paint; primary release not read); the price includes buyer synergies that comps do not capture.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2026-09-17T20:20:13Z</dcterms:created>
  <dcterms:modified xsi:type="dcterms:W3CDTF">2026-09-17T20:20:13Z</dcterms:modified>
</cp:coreProperties>
</file>