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5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(EUR bn)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Decorative Paints</c:v>
                  </c:pt>
                  <c:pt idx="1">
                    <c:v>Performance Coatings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4.09</c:v>
                </c:pt>
                <c:pt idx="1">
                  <c:v>6.07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ASEAN Paints &amp; Coatings Market (USD bn)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  <c:pt idx="3">
                    <c:v>2029</c:v>
                  </c:pt>
                  <c:pt idx="4">
                    <c:v>2030</c:v>
                  </c:pt>
                  <c:pt idx="5">
                    <c:v>2031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7.78</c:v>
                </c:pt>
                <c:pt idx="1">
                  <c:v>8.17</c:v>
                </c:pt>
                <c:pt idx="2">
                  <c:v>8.58</c:v>
                </c:pt>
                <c:pt idx="3">
                  <c:v>9.01</c:v>
                </c:pt>
                <c:pt idx="4">
                  <c:v>9.46</c:v>
                </c:pt>
                <c:pt idx="5">
                  <c:v>9.92</c:v>
                </c:pt>
              </c:numCache>
            </c:numRef>
          </c:val>
          <c:smooth val="0"/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0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072"/>
                    </a:solidFill>
                    <a:latin typeface="Arial"/>
                  </a:rPr>
                  <a:t>USD bn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(EUR mm)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1B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FY2023</c:v>
                  </c:pt>
                  <c:pt idx="1">
                    <c:v>FY2024</c:v>
                  </c:pt>
                  <c:pt idx="2">
                    <c:v>FY2025</c:v>
                  </c:pt>
                  <c:pt idx="3">
                    <c:v>FY2026E</c:v>
                  </c:pt>
                  <c:pt idx="4">
                    <c:v>FY2027E</c:v>
                  </c:pt>
                  <c:pt idx="5">
                    <c:v>FY2028E</c:v>
                  </c:pt>
                  <c:pt idx="6">
                    <c:v>FY2029E</c:v>
                  </c:pt>
                  <c:pt idx="7">
                    <c:v>FY2030E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273.9</c:v>
                </c:pt>
                <c:pt idx="1">
                  <c:v>286.3</c:v>
                </c:pt>
                <c:pt idx="2">
                  <c:v>300</c:v>
                </c:pt>
                <c:pt idx="3">
                  <c:v>315</c:v>
                </c:pt>
                <c:pt idx="4">
                  <c:v>331.4</c:v>
                </c:pt>
                <c:pt idx="5">
                  <c:v>347.9</c:v>
                </c:pt>
                <c:pt idx="6">
                  <c:v>364.7</c:v>
                </c:pt>
                <c:pt idx="7">
                  <c:v>381.4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1B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DCF</c:v>
                  </c:pt>
                  <c:pt idx="1">
                    <c:v>Trading Comps (Rev)</c:v>
                  </c:pt>
                  <c:pt idx="2">
                    <c:v>Precedents</c:v>
                  </c:pt>
                  <c:pt idx="3">
                    <c:v>Recommended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468</c:v>
                </c:pt>
                <c:pt idx="1">
                  <c:v>570</c:v>
                </c:pt>
                <c:pt idx="2">
                  <c:v>87</c:v>
                </c:pt>
                <c:pt idx="3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Range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DCF</c:v>
                  </c:pt>
                  <c:pt idx="1">
                    <c:v>Trading Comps (Rev)</c:v>
                  </c:pt>
                  <c:pt idx="2">
                    <c:v>Precedents</c:v>
                  </c:pt>
                  <c:pt idx="3">
                    <c:v>Recommended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440</c:v>
                </c:pt>
                <c:pt idx="1">
                  <c:v>723</c:v>
                </c:pt>
                <c:pt idx="2">
                  <c:v>603</c:v>
                </c:pt>
                <c:pt idx="3">
                  <c:v>275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3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A6072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A6072"/>
                    </a:solidFill>
                    <a:latin typeface="Arial"/>
                  </a:rPr>
                  <a:t>Enterprise Value (EUR mm)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synergy (% of revenue)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Nippon Paint</c:v>
                  </c:pt>
                  <c:pt idx="1">
                    <c:v>Siam Cement Group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1.75</c:v>
                </c:pt>
                <c:pt idx="1">
                  <c:v>2.5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synergy (% of revenue)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Nippon Paint</c:v>
                  </c:pt>
                  <c:pt idx="1">
                    <c:v>Siam Cement Group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1.75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1B1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6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900" b="0" i="0" u="none" strike="noStrike">
                    <a:solidFill>
                      <a:srgbClr val="5A6072"/>
                    </a:solidFill>
                    <a:latin typeface="Arial"/>
                  </a:defRPr>
                </a:pPr>
                <a:r>
                  <a:rPr sz="900" b="0" i="0" u="none" strike="noStrike">
                    <a:solidFill>
                      <a:srgbClr val="5A6072"/>
                    </a:solidFill>
                    <a:latin typeface="Arial"/>
                  </a:rPr>
                  <a:t>% of target revenue (midpoint)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0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1B1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SOUTHEAST ASIA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971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 Sell-Side Review — AkzoNobel Southeast Asia Decorative Paints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292608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Student M&amp;A Case Study  |  September 2026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9893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E9A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student analysis/reconstruction based on publicly available information. Not affiliated with, commissioned by, or representative of Goldman Sachs or AkzoNobel.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AkzoNobel reviews a sale of its EUR300m Southeast Asia decorative paints platform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691640"/>
            <a:ext cx="832104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37560" y="16916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AkzoNobel N.V. (market cap ~USD 12.5bn; FY2025 group revenue ~USD 11.5bn)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3317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Adviser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37560" y="2331720"/>
            <a:ext cx="832104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37560" y="23317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9718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Assets Under Review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337560" y="2971800"/>
            <a:ext cx="832104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37560" y="2971800"/>
            <a:ext cx="83210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 paints operations across Indonesia, Thailand, Malaysia, Vietnam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611880"/>
            <a:ext cx="274320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Revenue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337560" y="3611880"/>
            <a:ext cx="832104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3337560" y="3611880"/>
            <a:ext cx="83210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 300m (~USD 346m) annual, per ION Analytics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51960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251960"/>
            <a:ext cx="274320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Timing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37560" y="4251960"/>
            <a:ext cx="832104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337560" y="4251960"/>
            <a:ext cx="83210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flagged review Apr-2026; non-binding offers reported due mid-Sep-2026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892040"/>
            <a:ext cx="274320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Structure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37560" y="4892040"/>
            <a:ext cx="832104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337560" y="4892040"/>
            <a:ext cx="83210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be sold as one region-wide platform, or country-by-country to local players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532120"/>
            <a:ext cx="274320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532120"/>
            <a:ext cx="274320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Bidder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37560" y="5532120"/>
            <a:ext cx="832104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337560" y="5532120"/>
            <a:ext cx="8321040" cy="566928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 Cement Group (SCG) reported in preliminary discussions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ION Analytics/Mergermarket, 'AkzoNobel taps Goldman Sachs for sale of Southeast Asia paints assets' (SRC-001). See 01_Source_Data/Transaction_Research.md.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AkzoNobel is a global paints and coatings leader executing a portfolio reshaping program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74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11.5bn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group revenue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7373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337560" y="1874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4.09bn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47472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Decorative Paints segment revenue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7373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126480" y="1874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15.8%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FY2025 Decorative Paints adj. EBITDA margin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737360"/>
            <a:ext cx="2606040" cy="1371600"/>
          </a:xfrm>
          <a:prstGeom prst="roundRect">
            <a:avLst>
              <a:gd name="adj" fmla="val 5333"/>
            </a:avLst>
          </a:prstGeom>
          <a:solidFill>
            <a:srgbClr val="F4F6F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15400" y="18745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12.5bn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0" y="251460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capitalization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Recent portfolio actions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840480"/>
            <a:ext cx="5669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Jun-Dec 2025: Sold 74.76% of AkzoNobel India to JSW Group for EUR1.4bn (25x EBITDA) — India liquid paints/coatings, incl. Dulux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Rejected an unsolicited EUR7.5bn offer from Nippon Paint for the entire global Decorative Paints segment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2026: CEO signaled review of Southeast Asia decorative paints businesses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34290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revenue by segment, FY2025 (EUR bn)</a:t>
            </a:r>
            <a:endParaRPr lang="en-US" sz="16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492240" y="3840480"/>
          <a:ext cx="512064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AkzoNobel FY2025 results release; PCI Magazine '2026 Global Top 10'; 04_Precedent_Transactions.</a:t>
            </a:r>
            <a:endParaRPr lang="en-US" sz="800" dirty="0"/>
          </a:p>
        </p:txBody>
      </p:sp>
      <p:sp>
        <p:nvSpPr>
          <p:cNvPr id="21" name="Text 18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OVERVIEW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decorative-paints legal entities and manufacturing sites across all four markets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Indonesia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ICI Paints Indonesia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Tangerang (decorative)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1971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364992" y="169164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593592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93592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593592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Thailand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Akzo Nobel Paints (Thailand) Ltd.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 (decorative)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3593592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entry 1963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81344" y="169164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4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9944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09944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9944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Malaysia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9944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Akzo Nobel Paints (Malaysia) Sdn Bhd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409944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not confirmed this pass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409944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Formerly ICI Paints (Malaysia)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97696" y="1691640"/>
            <a:ext cx="2697480" cy="2834640"/>
          </a:xfrm>
          <a:prstGeom prst="roundRect">
            <a:avLst>
              <a:gd name="adj" fmla="val 2034"/>
            </a:avLst>
          </a:prstGeom>
          <a:solidFill>
            <a:srgbClr val="F4F6FB"/>
          </a:solidFill>
          <a:ln/>
        </p:spPr>
      </p:sp>
      <p:sp>
        <p:nvSpPr>
          <p:cNvPr id="26" name="Shape 24"/>
          <p:cNvSpPr/>
          <p:nvPr/>
        </p:nvSpPr>
        <p:spPr>
          <a:xfrm>
            <a:off x="9226296" y="187452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226296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226296" y="2423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Vietnam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226296" y="2743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Akzo Nobel Paints Vietnam Ltd.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226296" y="34290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 Cat, Binh Duong (100m litre capacity)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9226296" y="4023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LEED Gold certified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note: each market also hosts separate AkzoNobel Performance Coatings (industrial/powder) sites judged, as an analyst inference, to sit OUTSIDE the reported decorative-paints perimeter — see 01_Source_Data/SEA_Asset_Perimeter.xlsx.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Dulux Indonesia/Malaysia; Coatings World; NTCC Thailand; OpenCorpData/LEI Register. 01_Source_Data/SEA_Asset_Perimeter.xlsx.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ASEAN paints and coatings market is projected to grow at a ~5% CAGR through 2031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 drivers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2103120"/>
            <a:ext cx="4206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construction activity across Indonesia, Vietnam and Thailand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Government-backed infrastructure programs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industrial investment (incl. EV-related manufacturing)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urbanization and middle-class housing demand across all four markets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ION Analytics article citing ASEAN paints &amp; coatings market sizing, 2026-2031.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Nippon Paint holds the deepest regional overlap; AkzoNobel competes across a fragmented field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8346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7373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737360"/>
            <a:ext cx="822960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7373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SEA Decorative Position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2834640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9456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Paint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29000" y="219456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219456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in Malaysia decorative (26yr history); ~50% JV share in Thailand decorative; Vietnam production; Indonesia technical alliance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2834640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01752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leaders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429000" y="301752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20440" y="30175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Thailand: Toa leads decorative, ahead of Nippon Paint's ~50%-share JV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2834640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38404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Paints / Berger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384048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520440" y="3840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Paints exited Indonesia (divested); Berger manufactures in Malaysia/Singapore, serves Indonesia/Vietnam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663440"/>
            <a:ext cx="2834640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4663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 Cement Group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29000" y="466344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520440" y="46634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Paint sold as one category within its broader Smart Living building-materials retail channel across all 4 markets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486400"/>
            <a:ext cx="2834640" cy="7772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" y="54864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Sherwin-Williams / PPG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429000" y="548640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520440" y="54864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 decorative market-share data identified — limited confirmed regional decorative presence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search aggregation of company/trade-press disclosures — see 06_Buyer_Analysis/Buyer_Fit_Matrix for full evidence citations.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PERFORMANCE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revenue build reaches EUR381m by FY2030E on a ~5% CAGR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metrics (FY2026E)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98080" y="2148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315mm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926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(16.5% margin)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3200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52mm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Unlevered FCF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3977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 21mm (net of one-time separation costs)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45720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on this slide beyond the EUR300m FY2025 revenue anchor is an ILLUSTRATIVE ASSUMPTION — no SEA-specific EBITDA, margin or cash-flow data is publicly disclosed. See 02_Financial_Model/README.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02_Financial_Model/Project_Southeast_Asia_Financial_Model.xlsx.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HIGHLIGHTS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scaled, multi-country decorative platform in a structurally growing region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platform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718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decorative operations across four ASEAN markets with distinct legal entities and confirmed manufacturing footprint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659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growth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718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ASEAN paints market projected to grow from USD7.78bn (2026) to USD9.92bn (2031), a ~5.0% CAGR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96596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514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Optionality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97180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seller openness to a whole-region sale or country-by-country carve-up to local players maximizing synergy fit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891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Established brand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94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Dulux brand equity across all four markets, alongside Eka and other AkzoNobel decorative lines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41605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3891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Scarcity value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394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assets of this scale and multi-country reach become available in SEA decorative paints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41605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38912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3891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93776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Motivated buyer field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5394960"/>
            <a:ext cx="3154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strategics (Nippon Paint, SCG, Asian Paints/Berger) have direct evidenced regional overlap or stated interest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01_Source_Data, 06_Buyer_Analysis. Highlights are analyst-drafted narrative framing of disclosed facts, not independently disclosed claims.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Triangulated methodologies point to a recommended EUR500-775m Enterprise Value range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73152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8138160" y="17373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range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011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EUR500-775mm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606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Mid: EUR625mm  |  ~2.0x FY26E Revenue  |  ~12.0x FY26E EBITDA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320040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on the DCF base case, cross-checked against the two most structurally comparable precedents (Sherwin-Williams/BASF Suvinil; Nippon Paint/AkzoNobel rejected global offer). Trading comps and JSW/PPG outliers treated as context, not primary drivers.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05_Valuation/Project_Southeast_Asia_Valuation.xlsx (Triangulation tab).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UNIVERSE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named strategics span pure-play coatings majors to a diversified regional conglomerate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762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Nippon Paint Holdings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88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evidenced SEA overlap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THAILAND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762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Siam Cement Group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788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in preliminary discussions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6676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366760" y="217627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Asian Paints / Berger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278892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Decorative pure-play, mixed regional footprint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3708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Sherwin-Williams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983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balance sheet, limited SEA presence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93192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43708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PPG Industries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4983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in commentary; recent decorative divestiture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931920"/>
            <a:ext cx="3611880" cy="192024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3708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Kansai Paint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366760" y="498348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presence, smallest balance sheet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ION Analytics article (buyer commentary); 06_Buyer_Analysis/Buyer_Fit_Matrix.xlsx.</a:t>
            </a:r>
            <a:endParaRPr lang="en-US" sz="800" dirty="0"/>
          </a:p>
        </p:txBody>
      </p:sp>
      <p:sp>
        <p:nvSpPr>
          <p:cNvPr id="29" name="Text 27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STRATEGIC FIT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Nippon Paint's deep overlap cuts both ways: highest synergy potential, highest regulatory risk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3774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3736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926080" y="1737360"/>
            <a:ext cx="3017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99232" y="17373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Fit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943600" y="1737360"/>
            <a:ext cx="30175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16752" y="1737360"/>
            <a:ext cx="2871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Risk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961120" y="1737360"/>
            <a:ext cx="26517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034272" y="173736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Capacity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139696"/>
            <a:ext cx="2377440" cy="658368"/>
          </a:xfrm>
          <a:prstGeom prst="rect">
            <a:avLst/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" y="213969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Paint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2926080" y="21396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999232" y="213969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— all 4 markets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5943600" y="21396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016752" y="213969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— #2 Malaysia, ~50% Thailand JV share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8961120" y="2139696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034272" y="2139696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Ample (EV ~USD21.4bn)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48640" y="2825496"/>
            <a:ext cx="2377440" cy="658368"/>
          </a:xfrm>
          <a:prstGeom prst="rect">
            <a:avLst/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" y="282549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Siam Cement Group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2926080" y="28254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999232" y="282549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— full ASEAN retail network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5943600" y="28254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16752" y="282549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— paint not separately disclosed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961120" y="2825496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34272" y="2825496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large (~USD14.9bn revenue)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548640" y="3511296"/>
            <a:ext cx="2377440" cy="658368"/>
          </a:xfrm>
          <a:prstGeom prst="rect">
            <a:avLst/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1792" y="351129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Sherwin-Williams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2926080" y="35112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999232" y="351129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— limited evidenced SEA share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943600" y="35112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016752" y="351129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minimal existing overlap</a:t>
            </a:r>
            <a:endParaRPr lang="en-US" sz="980" dirty="0"/>
          </a:p>
        </p:txBody>
      </p:sp>
      <p:sp>
        <p:nvSpPr>
          <p:cNvPr id="34" name="Shape 32"/>
          <p:cNvSpPr/>
          <p:nvPr/>
        </p:nvSpPr>
        <p:spPr>
          <a:xfrm>
            <a:off x="8961120" y="3511296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34272" y="3511296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balance sheet (EV ~USD91.7bn)</a:t>
            </a:r>
            <a:endParaRPr lang="en-US" sz="980" dirty="0"/>
          </a:p>
        </p:txBody>
      </p:sp>
      <p:sp>
        <p:nvSpPr>
          <p:cNvPr id="36" name="Shape 34"/>
          <p:cNvSpPr/>
          <p:nvPr/>
        </p:nvSpPr>
        <p:spPr>
          <a:xfrm>
            <a:off x="548640" y="4197096"/>
            <a:ext cx="2377440" cy="658368"/>
          </a:xfrm>
          <a:prstGeom prst="rect">
            <a:avLst/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21792" y="419709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 Paints/Berger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2926080" y="41970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99232" y="419709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— Asian Paints exited Indonesia</a:t>
            </a:r>
            <a:endParaRPr lang="en-US" sz="980" dirty="0"/>
          </a:p>
        </p:txBody>
      </p:sp>
      <p:sp>
        <p:nvSpPr>
          <p:cNvPr id="40" name="Shape 38"/>
          <p:cNvSpPr/>
          <p:nvPr/>
        </p:nvSpPr>
        <p:spPr>
          <a:xfrm>
            <a:off x="5943600" y="41970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016752" y="419709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limited confirmed overlap</a:t>
            </a:r>
            <a:endParaRPr lang="en-US" sz="980" dirty="0"/>
          </a:p>
        </p:txBody>
      </p:sp>
      <p:sp>
        <p:nvSpPr>
          <p:cNvPr id="42" name="Shape 40"/>
          <p:cNvSpPr/>
          <p:nvPr/>
        </p:nvSpPr>
        <p:spPr>
          <a:xfrm>
            <a:off x="8961120" y="4197096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034272" y="4197096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(Asian Paints EV ~EUR24bn eq.)</a:t>
            </a:r>
            <a:endParaRPr lang="en-US" sz="980" dirty="0"/>
          </a:p>
        </p:txBody>
      </p:sp>
      <p:sp>
        <p:nvSpPr>
          <p:cNvPr id="44" name="Shape 42"/>
          <p:cNvSpPr/>
          <p:nvPr/>
        </p:nvSpPr>
        <p:spPr>
          <a:xfrm>
            <a:off x="548640" y="4882896"/>
            <a:ext cx="2377440" cy="658368"/>
          </a:xfrm>
          <a:prstGeom prst="rect">
            <a:avLst/>
          </a:prstGeom>
          <a:solidFill>
            <a:srgbClr val="F4F6FB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" y="4882896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Industries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2926080" y="48828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999232" y="488289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— no SEA-specific data found</a:t>
            </a:r>
            <a:endParaRPr lang="en-US" sz="980" dirty="0"/>
          </a:p>
        </p:txBody>
      </p:sp>
      <p:sp>
        <p:nvSpPr>
          <p:cNvPr id="48" name="Shape 46"/>
          <p:cNvSpPr/>
          <p:nvPr/>
        </p:nvSpPr>
        <p:spPr>
          <a:xfrm>
            <a:off x="5943600" y="4882896"/>
            <a:ext cx="301752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016752" y="4882896"/>
            <a:ext cx="28712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</a:t>
            </a:r>
            <a:endParaRPr lang="en-US" sz="980" dirty="0"/>
          </a:p>
        </p:txBody>
      </p:sp>
      <p:sp>
        <p:nvSpPr>
          <p:cNvPr id="50" name="Shape 48"/>
          <p:cNvSpPr/>
          <p:nvPr/>
        </p:nvSpPr>
        <p:spPr>
          <a:xfrm>
            <a:off x="8961120" y="4882896"/>
            <a:ext cx="265176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3E6EE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034272" y="4882896"/>
            <a:ext cx="25054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Ample (mkt cap ~USD24.5bn)</a:t>
            </a:r>
            <a:endParaRPr lang="en-US" sz="980" dirty="0"/>
          </a:p>
        </p:txBody>
      </p:sp>
      <p:sp>
        <p:nvSpPr>
          <p:cNvPr id="52" name="Text 50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06_Buyer_Analysis/Buyer_Fit_Matrix.xlsx — full evidence-based citations per row.</a:t>
            </a:r>
            <a:endParaRPr lang="en-US" sz="800" dirty="0"/>
          </a:p>
        </p:txBody>
      </p:sp>
      <p:sp>
        <p:nvSpPr>
          <p:cNvPr id="53" name="Text 51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SYNERGY ANALYSIS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Illustrative synergy potential is highest for buyers with existing regional manufacturing scale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6309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178040" y="1737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7178040" y="2148840"/>
            <a:ext cx="45720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buyer- or deal-specific synergy figure is publicly disclosed for this transaction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Ranges sized using standard percentage-of-revenue M&amp;A synergy heuristics, applied to each buyer's evidenced regional overlap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Nippon Paint: highest cost synergy potential (manufacturing/distribution overlap in Malaysia, Thailand)</a:t>
            </a:r>
            <a:endParaRPr lang="en-US" sz="11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SCG: revenue synergy from cross-sell through its existing building-materials retail channel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06_Buyer_Analysis/Synergy_Analysis.xlsx. ILLUSTRATIVE ASSUMPTION — methodology disclosed, not a disclosed deal figure.</a:t>
            </a:r>
            <a:endParaRPr lang="en-US" sz="800" dirty="0"/>
          </a:p>
        </p:txBody>
      </p:sp>
      <p:sp>
        <p:nvSpPr>
          <p:cNvPr id="8" name="Text 5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STRUCTURE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viable structures reflect the seller's reported openness to a whole-region or split sale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A: Single Regional Sale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buyer acquires all four country platforms as a combined SEA decorative business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execution — single SPA, single diligence process, single close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suited to a buyer with existing pan-regional infrastructure (e.g., Nippon Paint)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Maximizes control premium if a strategic values the full platform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09360" y="1737360"/>
            <a:ext cx="5486400" cy="4206240"/>
          </a:xfrm>
          <a:prstGeom prst="roundRect">
            <a:avLst>
              <a:gd name="adj" fmla="val 1304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0" y="19202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B: Country-by-Country Sale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583680" y="2468880"/>
            <a:ext cx="49377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country sold separately to the local/regional buyer offering the greatest synergies there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Explicitly contemplated in the ION Analytics reporting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Allows SCG (Thailand-centric) and other buyers to bid only where they have the strongest fit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complex execution — multiple SPAs, parallel processes, potential timing mismatch across closes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ION Analytics article's stated sale-structure optionality; 01_Source_Data/Transaction_Research.md.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PROCESS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Reported timeline points to non-binding offers due mid-September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9446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9446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88920" y="2194560"/>
            <a:ext cx="182880" cy="0"/>
          </a:xfrm>
          <a:prstGeom prst="line">
            <a:avLst/>
          </a:prstGeom>
          <a:noFill/>
          <a:ln w="25400">
            <a:solidFill>
              <a:srgbClr val="C7CC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CEO comments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4290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AkzoNobel CEO signals review of SEA decorative paints businesses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77190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719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166360" y="2194560"/>
            <a:ext cx="182880" cy="0"/>
          </a:xfrm>
          <a:prstGeom prst="line">
            <a:avLst/>
          </a:prstGeom>
          <a:noFill/>
          <a:ln w="25400">
            <a:solidFill>
              <a:srgbClr val="C7CC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92608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92608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Adviser engaged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4290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Goldman Sachs reportedly retained to run the process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4934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493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543800" y="2194560"/>
            <a:ext cx="182880" cy="0"/>
          </a:xfrm>
          <a:prstGeom prst="line">
            <a:avLst/>
          </a:prstGeom>
          <a:noFill/>
          <a:ln w="25400">
            <a:solidFill>
              <a:srgbClr val="C7CC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0352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530352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Preliminary discussions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5394960" y="34290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SCG reported among parties in early discussions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52678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52678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921240" y="2194560"/>
            <a:ext cx="182880" cy="0"/>
          </a:xfrm>
          <a:prstGeom prst="line">
            <a:avLst/>
          </a:prstGeom>
          <a:noFill/>
          <a:ln w="25400">
            <a:solidFill>
              <a:srgbClr val="C7CC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68096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Mid-Sep 2026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Non-binding offers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772400" y="34290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NBOs reportedly due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90422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90422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10058400" y="265176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disclosed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0" y="292608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Exclusivity / SPA / Close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0149840" y="342900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timeline beyond the NBO deadline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signing, exclusivity or closing date is publicly disclosed beyond the reported NBO deadline. Timeline beyond mid-September 2026 is UNAVAILABLE / NOT PUBLICLY DISCLOSED.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ION Analytics article.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scarcity, regulatory overlap and multi-country execution are the principal risk factors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data scarcity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SEA-specific EBITDA, margin, working capital or balance-sheet data is publicly disclosed — every valuation output rests on illustrative assumptions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3400" y="17373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0" y="196596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Regulatory / antitrust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260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sale to a buyer with deep existing overlap (e.g., Nippon Paint in Malaysia/Thailand) could face material merger-control scrutiny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366760" y="196596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66760" y="1965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366760" y="242316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Perimeter uncertainty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9260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Performance Coatings assets, shared services, or specific brands transfer with the decorative business is not confirmed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1605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38912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Multi-country complexity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3492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country-by-country sale structure multiplies regulatory approvals, SPAs, and closing-condition risk across four jurisdictions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43400" y="41605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0" y="438912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7200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Carve-out execution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0" y="53492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TSA dependency, stranded costs and standalone systems build-out carry real integration risk not sized by any public disclosure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138160" y="4160520"/>
            <a:ext cx="3611880" cy="2331720"/>
          </a:xfrm>
          <a:prstGeom prst="roundRect">
            <a:avLst>
              <a:gd name="adj" fmla="val 2353"/>
            </a:avLst>
          </a:prstGeom>
          <a:solidFill>
            <a:srgbClr val="F4F6FB"/>
          </a:solidFill>
          <a:ln/>
        </p:spPr>
      </p:sp>
      <p:sp>
        <p:nvSpPr>
          <p:cNvPr id="30" name="Shape 28"/>
          <p:cNvSpPr/>
          <p:nvPr/>
        </p:nvSpPr>
        <p:spPr>
          <a:xfrm>
            <a:off x="8366760" y="4389120"/>
            <a:ext cx="320040" cy="32004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43891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Valuation dispersion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534924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DCF, trading comps and precedent transactions do not converge — a genuine finding that widens the defensible pricing range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synthesized across 01_Source_Data through 06_Buyer_Analysis workbooks.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SENSITIVITY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Enterprise Value ranges EUR468-908mm across a plausible WACC / terminal-growth band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\ Terminal Growth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737360" y="1645920"/>
            <a:ext cx="1417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73736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154680" y="1645920"/>
            <a:ext cx="1417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5468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2.5%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1417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7200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645920"/>
            <a:ext cx="1417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8932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06640" y="1645920"/>
            <a:ext cx="1417320" cy="365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164592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011680"/>
            <a:ext cx="11887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201168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7.88%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737360" y="2011680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737360" y="20116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635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54680" y="2011680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154680" y="20116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011680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0" y="20116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89320" y="2011680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89320" y="20116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406640" y="2011680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06640" y="201168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908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2578608"/>
            <a:ext cx="11887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48640" y="2578608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8.38%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37360" y="2578608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737360" y="25786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583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154680" y="2578608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154680" y="25786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624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0" y="2578608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0" y="25786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89320" y="2578608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89320" y="25786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731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06640" y="2578608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06640" y="2578608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145536"/>
            <a:ext cx="11887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48640" y="3145536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8.88%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737360" y="3145536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737360" y="31455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539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154680" y="3145536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3154680" y="31455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0" y="3145536"/>
            <a:ext cx="1417320" cy="566928"/>
          </a:xfrm>
          <a:prstGeom prst="rect">
            <a:avLst/>
          </a:prstGeom>
          <a:solidFill>
            <a:srgbClr val="C9A22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72000" y="31455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989320" y="3145536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5989320" y="31455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7406640" y="3145536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406640" y="3145536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718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48640" y="3712464"/>
            <a:ext cx="11887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548640" y="3712464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9.38%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1737360" y="3712464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1737360" y="37124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154680" y="3712464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3154680" y="37124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530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0" y="3712464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72000" y="37124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564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5989320" y="3712464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5989320" y="37124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603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406640" y="3712464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406640" y="3712464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649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548640" y="4279392"/>
            <a:ext cx="1188720" cy="5669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548640" y="4279392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9.88%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737360" y="4279392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1737360" y="42793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468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154680" y="4279392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3154680" y="42793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493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572000" y="4279392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4572000" y="42793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521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989320" y="4279392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5989320" y="42793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7406640" y="4279392"/>
            <a:ext cx="1417320" cy="566928"/>
          </a:xfrm>
          <a:prstGeom prst="rect">
            <a:avLst/>
          </a:prstGeom>
          <a:solidFill>
            <a:srgbClr val="F4F6F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7406640" y="4279392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593</a:t>
            </a:r>
            <a:endParaRPr lang="en-US" sz="1100" dirty="0"/>
          </a:p>
        </p:txBody>
      </p:sp>
      <p:sp>
        <p:nvSpPr>
          <p:cNvPr id="75" name="Text 73"/>
          <p:cNvSpPr txBox="1"/>
          <p:nvPr/>
        </p:nvSpPr>
        <p:spPr>
          <a:xfrm>
            <a:off x="548640" y="5120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Value, EUR mm. Base case (WACC 8.88%, terminal growth 3.0%) highlighted.</a:t>
            </a:r>
            <a:endParaRPr lang="en-US" sz="1050" dirty="0"/>
          </a:p>
        </p:txBody>
      </p:sp>
      <p:sp>
        <p:nvSpPr>
          <p:cNvPr id="76" name="Text 74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02_Financial_Model/DCF_Valuation tab; 05_Valuation/DCF_Summary.xlsx.</a:t>
            </a:r>
            <a:endParaRPr lang="en-US" sz="800" dirty="0"/>
          </a:p>
        </p:txBody>
      </p:sp>
      <p:sp>
        <p:nvSpPr>
          <p:cNvPr id="77" name="Text 75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MARKETING STRATEGY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staged, dual-track process balances platform value against structural flexibility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Broad outreach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120640" y="173736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global strategics (Nippon Paint, Sherwin-Williams, PPG, Kansai Paint) and regional players (SCG, Asian Paints/Berger) in parallel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788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Dual-track structuring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278892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 both whole-region bids and country-specific bids to preserve the seller's stated optionality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8404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presentations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5120640" y="384048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carve-out financials and perimeter clarity to shortlisted bidders — the single largest information gap identified in this project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8920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bids and selection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120640" y="4892040"/>
            <a:ext cx="6492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whole-region vs. split-sale proceeds net of execution complexity and closing-condition risk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prioritize Sherwin-Williams/Suvinil-style structural comparables and Nippon Paint's evidenced regional scale as primary go-to bidders, while running SCG and Asian Paints/Berger as credible alternates.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recommendation synthesizing 05_Valuation and 06_Buyer_Analysis — not a disclosed process plan.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52144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2026-09-17T20:20:13Z</dcterms:created>
  <dcterms:modified xsi:type="dcterms:W3CDTF">2026-09-17T20:20:13Z</dcterms:modified>
</cp:coreProperties>
</file>